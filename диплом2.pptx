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82" r:id="rId6"/>
    <p:sldId id="260" r:id="rId7"/>
    <p:sldId id="283" r:id="rId8"/>
    <p:sldId id="262" r:id="rId9"/>
    <p:sldId id="261" r:id="rId10"/>
    <p:sldId id="263" r:id="rId11"/>
    <p:sldId id="264" r:id="rId12"/>
    <p:sldId id="265" r:id="rId13"/>
    <p:sldId id="266" r:id="rId14"/>
    <p:sldId id="281" r:id="rId15"/>
    <p:sldId id="267" r:id="rId16"/>
    <p:sldId id="269" r:id="rId17"/>
    <p:sldId id="270" r:id="rId18"/>
    <p:sldId id="272" r:id="rId19"/>
    <p:sldId id="271" r:id="rId20"/>
    <p:sldId id="273" r:id="rId21"/>
    <p:sldId id="274" r:id="rId22"/>
    <p:sldId id="280" r:id="rId23"/>
    <p:sldId id="279" r:id="rId24"/>
  </p:sldIdLst>
  <p:sldSz cx="12192000" cy="6858000"/>
  <p:notesSz cx="6858000" cy="12192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Для перемещения страницы щёлкните мышью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DC9E52E-EEC3-4267-A484-0133390B49D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183B08C-5813-4197-ADD5-23C19ECC757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&lt;дата/время&gt;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AA03B45-7B2C-4954-85DF-29AA2ECB9EA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‹#›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"/>
          <p:cNvSpPr/>
          <p:nvPr/>
        </p:nvSpPr>
        <p:spPr>
          <a:xfrm>
            <a:off x="565200" y="2276640"/>
            <a:ext cx="8739360" cy="530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32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Times New Roman"/>
              </a:rPr>
              <a:t>Разработка </a:t>
            </a:r>
            <a:r>
              <a:rPr lang="en-US" sz="32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Times New Roman"/>
              </a:rPr>
              <a:t>RAG</a:t>
            </a:r>
            <a:r>
              <a:rPr lang="ru-RU" sz="32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Times New Roman"/>
              </a:rPr>
              <a:t>-системы для отдела метрологии</a:t>
            </a:r>
            <a:r>
              <a:rPr lang="en-US" sz="32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Times New Roman"/>
              </a:rPr>
              <a:t> </a:t>
            </a:r>
            <a:r>
              <a:rPr lang="ru-RU" sz="32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Times New Roman"/>
              </a:rPr>
              <a:t>АО</a:t>
            </a:r>
            <a:r>
              <a:rPr lang="en-US" sz="32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Times New Roman"/>
              </a:rPr>
              <a:t> “</a:t>
            </a:r>
            <a:r>
              <a:rPr lang="ru-RU" sz="32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Times New Roman"/>
              </a:rPr>
              <a:t>ММЗ</a:t>
            </a:r>
            <a:r>
              <a:rPr lang="en-US" sz="32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Times New Roman"/>
              </a:rPr>
              <a:t>”</a:t>
            </a:r>
            <a:r>
              <a:rPr lang="ru-RU" sz="32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Times New Roman"/>
              </a:rPr>
              <a:t> </a:t>
            </a:r>
            <a:endParaRPr lang="ru-RU" sz="32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Прямоугольник 10"/>
          <p:cNvSpPr/>
          <p:nvPr/>
        </p:nvSpPr>
        <p:spPr>
          <a:xfrm>
            <a:off x="1123920" y="623880"/>
            <a:ext cx="10262160" cy="57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33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Noto Sans"/>
                <a:ea typeface="Segoe UI Black"/>
              </a:rPr>
              <a:t>Выпускная квалификационная работа · Кафедра И</a:t>
            </a:r>
            <a:r>
              <a:rPr lang="ru-RU" sz="2400" b="1" u="none" strike="noStrike">
                <a:solidFill>
                  <a:schemeClr val="lt1"/>
                </a:solidFill>
                <a:effectLst/>
                <a:uFillTx/>
                <a:latin typeface="Noto Sans"/>
                <a:ea typeface="Segoe UI Black"/>
              </a:rPr>
              <a:t>и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Noto Sans"/>
                <a:ea typeface="Segoe UI Black"/>
              </a:rPr>
              <a:t>СП · 2026</a:t>
            </a:r>
            <a:endParaRPr lang="ru-RU" sz="2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" name="TextBox 5"/>
          <p:cNvSpPr/>
          <p:nvPr/>
        </p:nvSpPr>
        <p:spPr>
          <a:xfrm>
            <a:off x="565200" y="3901320"/>
            <a:ext cx="5902920" cy="14527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51"/>
              </a:spcAft>
            </a:pPr>
            <a:r>
              <a:rPr lang="en-US" sz="1500" b="0" u="none" strike="noStrike" dirty="0" err="1">
                <a:solidFill>
                  <a:schemeClr val="lt1"/>
                </a:solidFill>
                <a:effectLst/>
                <a:uFillTx/>
                <a:latin typeface="Noto Sans"/>
                <a:ea typeface="Segoe UI Black"/>
              </a:rPr>
              <a:t>Студент</a:t>
            </a:r>
            <a:r>
              <a:rPr lang="en-US" sz="15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Segoe UI Black"/>
              </a:rPr>
              <a:t>: </a:t>
            </a:r>
            <a:r>
              <a:rPr lang="ru-RU" sz="1500" b="0" u="none" strike="noStrike" dirty="0">
                <a:solidFill>
                  <a:schemeClr val="lt1"/>
                </a:solidFill>
                <a:effectLst/>
                <a:uFillTx/>
                <a:latin typeface="Noto Sans"/>
                <a:ea typeface="Segoe UI Black"/>
              </a:rPr>
              <a:t>Долгоруков Кирилл Леонидович, группа ПС-42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rtl="0">
              <a:spcBef>
                <a:spcPts val="451"/>
              </a:spcBef>
              <a:spcAft>
                <a:spcPts val="0"/>
              </a:spcAft>
            </a:pPr>
            <a:r>
              <a:rPr lang="ru-RU" sz="1500" b="0" i="0" u="none" strike="noStrike" dirty="0">
                <a:solidFill>
                  <a:srgbClr val="FFFFFF"/>
                </a:solidFill>
                <a:effectLst/>
                <a:latin typeface="Noto Sans" panose="020B0502040504020204" pitchFamily="34" charset="0"/>
              </a:rPr>
              <a:t>Руководитель от кафедры: доцент </a:t>
            </a:r>
            <a:r>
              <a:rPr lang="ru-RU" sz="1500" b="0" i="0" u="none" strike="noStrike" dirty="0" err="1">
                <a:solidFill>
                  <a:srgbClr val="FFFFFF"/>
                </a:solidFill>
                <a:effectLst/>
                <a:latin typeface="Noto Sans" panose="020B0502040504020204" pitchFamily="34" charset="0"/>
              </a:rPr>
              <a:t>Нехорошкова</a:t>
            </a:r>
            <a:r>
              <a:rPr lang="ru-RU" sz="1500" b="0" i="0" u="none" strike="noStrike" dirty="0">
                <a:solidFill>
                  <a:srgbClr val="FFFFFF"/>
                </a:solidFill>
                <a:effectLst/>
                <a:latin typeface="Noto Sans" panose="020B0502040504020204" pitchFamily="34" charset="0"/>
              </a:rPr>
              <a:t> Л. Г.</a:t>
            </a:r>
            <a:endParaRPr lang="ru-RU" sz="1600" b="0" dirty="0">
              <a:effectLst/>
            </a:endParaRPr>
          </a:p>
          <a:p>
            <a:pPr rtl="0">
              <a:spcBef>
                <a:spcPts val="451"/>
              </a:spcBef>
              <a:spcAft>
                <a:spcPts val="0"/>
              </a:spcAft>
            </a:pPr>
            <a:r>
              <a:rPr lang="ru-RU" sz="1500" b="0" i="0" u="none" strike="noStrike" dirty="0">
                <a:solidFill>
                  <a:srgbClr val="FFFFFF"/>
                </a:solidFill>
                <a:effectLst/>
                <a:latin typeface="Noto Sans" panose="020B0502040504020204" pitchFamily="34" charset="0"/>
              </a:rPr>
              <a:t>Руководитель от предприятия: </a:t>
            </a:r>
            <a:r>
              <a:rPr lang="ru-RU" sz="1500" b="0" i="0" u="none" strike="noStrike" dirty="0" err="1">
                <a:solidFill>
                  <a:srgbClr val="FFFFFF"/>
                </a:solidFill>
                <a:effectLst/>
                <a:latin typeface="Noto Sans" panose="020B0502040504020204" pitchFamily="34" charset="0"/>
              </a:rPr>
              <a:t>Цивин</a:t>
            </a:r>
            <a:r>
              <a:rPr lang="ru-RU" sz="1500" b="0" i="0" u="none" strike="noStrike" dirty="0">
                <a:solidFill>
                  <a:srgbClr val="FFFFFF"/>
                </a:solidFill>
                <a:effectLst/>
                <a:latin typeface="Noto Sans" panose="020B0502040504020204" pitchFamily="34" charset="0"/>
              </a:rPr>
              <a:t> Е. Л.</a:t>
            </a:r>
            <a:endParaRPr lang="ru-RU" sz="1600" b="0" dirty="0">
              <a:effectLst/>
            </a:endParaRPr>
          </a:p>
          <a:p>
            <a:br>
              <a:rPr lang="ru-RU" sz="1600" dirty="0"/>
            </a:b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pic>
        <p:nvPicPr>
          <p:cNvPr id="16" name="Picture 3"/>
          <p:cNvPicPr/>
          <p:nvPr/>
        </p:nvPicPr>
        <p:blipFill>
          <a:blip r:embed="rId3"/>
          <a:stretch/>
        </p:blipFill>
        <p:spPr>
          <a:xfrm>
            <a:off x="565200" y="5296320"/>
            <a:ext cx="4133520" cy="108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Picture 4"/>
          <p:cNvPicPr/>
          <p:nvPr/>
        </p:nvPicPr>
        <p:blipFill>
          <a:blip r:embed="rId4"/>
          <a:stretch/>
        </p:blipFill>
        <p:spPr>
          <a:xfrm>
            <a:off x="7533720" y="5439960"/>
            <a:ext cx="4133520" cy="1029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9" name="TextBox 2"/>
          <p:cNvSpPr/>
          <p:nvPr/>
        </p:nvSpPr>
        <p:spPr>
          <a:xfrm>
            <a:off x="4050180" y="148680"/>
            <a:ext cx="409104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Актуальность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Box 3"/>
          <p:cNvSpPr/>
          <p:nvPr/>
        </p:nvSpPr>
        <p:spPr>
          <a:xfrm>
            <a:off x="586731" y="1439612"/>
            <a:ext cx="10562040" cy="94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0" u="none" strike="noStrike" dirty="0">
                <a:solidFill>
                  <a:srgbClr val="0070C0"/>
                </a:solidFill>
                <a:effectLst/>
                <a:uFillTx/>
                <a:latin typeface="Noto Sans"/>
                <a:ea typeface="Segoe UI Black"/>
              </a:rPr>
              <a:t>Проблема: трудоёмкость подбора измерительных приборов на заводе АО «ММЗ»</a:t>
            </a:r>
            <a:endParaRPr lang="ru-RU" sz="28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" name="TextBox 5"/>
          <p:cNvSpPr/>
          <p:nvPr/>
        </p:nvSpPr>
        <p:spPr>
          <a:xfrm>
            <a:off x="586731" y="3139546"/>
            <a:ext cx="10350720" cy="23709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ea typeface="Segoe UI Black"/>
              </a:rPr>
              <a:t>На производстве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используются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тысячи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средств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измерений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,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паспортов</a:t>
            </a:r>
            <a:r>
              <a:rPr lang="ru-RU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и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описаний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типов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.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defTabSz="914400">
              <a:lnSpc>
                <a:spcPct val="100000"/>
              </a:lnSpc>
              <a:spcAft>
                <a:spcPts val="479"/>
              </a:spcAft>
              <a:tabLst>
                <a:tab pos="0" algn="l"/>
              </a:tabLst>
            </a:pPr>
            <a:r>
              <a:rPr lang="en-US" sz="2400" b="1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При</a:t>
            </a:r>
            <a:r>
              <a:rPr lang="en-US" sz="2400" b="1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1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ручном</a:t>
            </a:r>
            <a:r>
              <a:rPr lang="en-US" sz="2400" b="1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1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поиске</a:t>
            </a:r>
            <a:r>
              <a:rPr lang="ru-RU" sz="2400" b="1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метролог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сопоставляет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диапазоны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,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погрешности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,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единицы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измерения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и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место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размещения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вручную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.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defTabSz="914400">
              <a:lnSpc>
                <a:spcPct val="100000"/>
              </a:lnSpc>
              <a:spcAft>
                <a:spcPts val="479"/>
              </a:spcAft>
              <a:tabLst>
                <a:tab pos="0" algn="l"/>
              </a:tabLst>
            </a:pPr>
            <a:r>
              <a:rPr lang="ru-RU" sz="2400" b="1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Цель работы в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сокращени</a:t>
            </a:r>
            <a:r>
              <a:rPr lang="ru-RU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и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времени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поиска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,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снижение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риска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ошибки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и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работа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без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передачи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данных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во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внешние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 </a:t>
            </a:r>
            <a:r>
              <a:rPr lang="en-US" sz="2400" b="0" u="none" strike="noStrike" dirty="0" err="1">
                <a:solidFill>
                  <a:srgbClr val="0E2733"/>
                </a:solidFill>
                <a:effectLst/>
                <a:uFillTx/>
                <a:ea typeface="Noto Sans"/>
              </a:rPr>
              <a:t>сервисы</a:t>
            </a:r>
            <a:r>
              <a:rPr lang="en-US" sz="2400" b="0" u="none" strike="noStrike" dirty="0">
                <a:solidFill>
                  <a:srgbClr val="0E2733"/>
                </a:solidFill>
                <a:effectLst/>
                <a:uFillTx/>
                <a:ea typeface="Noto Sans"/>
              </a:rPr>
              <a:t>.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2" name="Прямоугольник 6"/>
          <p:cNvSpPr/>
          <p:nvPr/>
        </p:nvSpPr>
        <p:spPr>
          <a:xfrm>
            <a:off x="10841040" y="6054480"/>
            <a:ext cx="1189595" cy="36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B2B88A07-E280-42CA-B977-F0C58AE40979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pPr defTabSz="914400">
                <a:lnSpc>
                  <a:spcPct val="100000"/>
                </a:lnSpc>
              </a:pPr>
              <a:t>2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F99F97-9595-4B71-8DB5-02E382EA9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324" y="4523534"/>
            <a:ext cx="7816871" cy="13785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968193-6D04-495A-B241-3615757302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" t="11810" r="787" b="10798"/>
          <a:stretch/>
        </p:blipFill>
        <p:spPr>
          <a:xfrm>
            <a:off x="55964" y="1219276"/>
            <a:ext cx="9012529" cy="1826684"/>
          </a:xfrm>
          <a:prstGeom prst="rect">
            <a:avLst/>
          </a:prstGeom>
        </p:spPr>
      </p:pic>
      <p:sp>
        <p:nvSpPr>
          <p:cNvPr id="23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4" name="TextBox 2"/>
          <p:cNvSpPr/>
          <p:nvPr/>
        </p:nvSpPr>
        <p:spPr>
          <a:xfrm>
            <a:off x="3437100" y="144302"/>
            <a:ext cx="531720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Путь пользователя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Прямоугольник 6"/>
          <p:cNvSpPr/>
          <p:nvPr/>
        </p:nvSpPr>
        <p:spPr>
          <a:xfrm>
            <a:off x="10841040" y="6054480"/>
            <a:ext cx="68349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77D79C91-1DA9-43AB-9DA4-377C69C2664B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9594888" y="3002098"/>
            <a:ext cx="124615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0" u="none" strike="noStrike" dirty="0">
                <a:solidFill>
                  <a:schemeClr val="dk1"/>
                </a:solidFill>
                <a:effectLst/>
                <a:uFillTx/>
                <a:latin typeface="Noto Sans"/>
              </a:rPr>
              <a:t>После</a:t>
            </a:r>
            <a:endParaRPr lang="ru-RU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3"/>
          <p:cNvSpPr/>
          <p:nvPr/>
        </p:nvSpPr>
        <p:spPr>
          <a:xfrm>
            <a:off x="1565876" y="1104168"/>
            <a:ext cx="64823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800" b="0" u="none" strike="noStrike" dirty="0">
                <a:solidFill>
                  <a:schemeClr val="dk1"/>
                </a:solidFill>
                <a:effectLst/>
                <a:uFillTx/>
                <a:latin typeface="Noto Sans"/>
              </a:rPr>
              <a:t>До</a:t>
            </a:r>
            <a:endParaRPr lang="ru-RU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27635" y="4210190"/>
            <a:ext cx="1471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1 запрос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964" y="3189015"/>
            <a:ext cx="3270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Более 12000 документов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646" y="3922741"/>
            <a:ext cx="4275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Около 50000 средств измерений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>
            <a:off x="0" y="1384300"/>
            <a:ext cx="11760200" cy="5283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 flipV="1">
            <a:off x="0" y="1005480"/>
            <a:ext cx="12191400" cy="585252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964" y="4528147"/>
            <a:ext cx="25122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Ручное сравнение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562B92-962A-459F-A3BD-FB8D1E594A4F}"/>
              </a:ext>
            </a:extLst>
          </p:cNvPr>
          <p:cNvSpPr/>
          <p:nvPr/>
        </p:nvSpPr>
        <p:spPr>
          <a:xfrm>
            <a:off x="7728918" y="4696224"/>
            <a:ext cx="1836000" cy="900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1"/>
          <p:cNvSpPr/>
          <p:nvPr/>
        </p:nvSpPr>
        <p:spPr>
          <a:xfrm>
            <a:off x="600" y="-216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31" name="TextBox 2"/>
          <p:cNvSpPr/>
          <p:nvPr/>
        </p:nvSpPr>
        <p:spPr>
          <a:xfrm>
            <a:off x="2601538" y="147364"/>
            <a:ext cx="6988321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Постановка задачи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3"/>
          <p:cNvSpPr/>
          <p:nvPr/>
        </p:nvSpPr>
        <p:spPr>
          <a:xfrm>
            <a:off x="349173" y="1301578"/>
            <a:ext cx="11493053" cy="16913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600" b="0" u="none" strike="noStrike" dirty="0">
                <a:solidFill>
                  <a:srgbClr val="0070C0"/>
                </a:solidFill>
                <a:effectLst/>
                <a:uFillTx/>
                <a:latin typeface="Noto Sans"/>
                <a:ea typeface="Segoe UI Black"/>
              </a:rPr>
              <a:t>Цель: разработка вопросно-ответной RAG-системы для автоматизированного подбора средств измерений по запросам метрологов и инженеров на основе описаний типов, загруженных в базу знаний, и сведений из внутренней базы данных предприятия</a:t>
            </a:r>
            <a:endParaRPr lang="ru-RU" sz="26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3" name="TextBox 5"/>
          <p:cNvSpPr/>
          <p:nvPr/>
        </p:nvSpPr>
        <p:spPr>
          <a:xfrm>
            <a:off x="331845" y="3291153"/>
            <a:ext cx="11223572" cy="261464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Noto Sans"/>
                <a:ea typeface="Segoe UI Black"/>
              </a:rPr>
              <a:t>Задачи: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Segoe UI Black"/>
              </a:rPr>
              <a:t>Изучить предметную область метрологии на предприятии и определить основные сценарии поиска средств измерений</a:t>
            </a:r>
            <a:endParaRPr lang="ru-RU" sz="16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Segoe UI Black"/>
              </a:rPr>
              <a:t>Собрать и уточнить требования к автоматизированной системе совместно со специалистами метрологической службы</a:t>
            </a:r>
            <a:endParaRPr lang="ru-RU" sz="16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Segoe UI Black"/>
              </a:rPr>
              <a:t>Изучить принципы работы RAG-систем, векторного поиска, </a:t>
            </a:r>
            <a:r>
              <a:rPr lang="ru-RU" sz="1600" b="0" u="none" strike="noStrike" dirty="0" err="1">
                <a:solidFill>
                  <a:srgbClr val="000000"/>
                </a:solidFill>
                <a:effectLst/>
                <a:uFillTx/>
                <a:latin typeface="Noto Sans"/>
                <a:ea typeface="Segoe UI Black"/>
              </a:rPr>
              <a:t>эмбеддингов</a:t>
            </a:r>
            <a:r>
              <a:rPr lang="ru-RU" sz="16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Segoe UI Black"/>
              </a:rPr>
              <a:t> и повторного ранжирования</a:t>
            </a:r>
            <a:endParaRPr lang="ru-RU" sz="16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Segoe UI Black"/>
              </a:rPr>
              <a:t>Спроектировать архитектуру системы</a:t>
            </a:r>
            <a:endParaRPr lang="ru-RU" sz="16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600" dirty="0">
                <a:solidFill>
                  <a:srgbClr val="000000"/>
                </a:solidFill>
                <a:latin typeface="Noto Sans"/>
                <a:ea typeface="Segoe UI Black"/>
              </a:rPr>
              <a:t>Реализовать автоматизированную систему</a:t>
            </a:r>
            <a:endParaRPr lang="ru-RU" sz="16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Segoe UI Black"/>
              </a:rPr>
              <a:t>Провести функциональную проверку системы</a:t>
            </a:r>
            <a:endParaRPr lang="ru-RU" sz="16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000000"/>
                </a:solidFill>
                <a:effectLst/>
                <a:uFillTx/>
                <a:latin typeface="Noto Sans"/>
                <a:ea typeface="Segoe UI Black"/>
              </a:rPr>
              <a:t>Оценить соответствие системы требованиям по времени ответа, автономности и удобству использования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4" name="Прямоугольник 6"/>
          <p:cNvSpPr/>
          <p:nvPr/>
        </p:nvSpPr>
        <p:spPr>
          <a:xfrm>
            <a:off x="10841040" y="6054480"/>
            <a:ext cx="68349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4B64697D-6944-46D1-A831-2D7A607DD168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4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36" name="TextBox 2"/>
          <p:cNvSpPr/>
          <p:nvPr/>
        </p:nvSpPr>
        <p:spPr>
          <a:xfrm>
            <a:off x="1970494" y="149524"/>
            <a:ext cx="825005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Требования к системе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Прямоугольник 6"/>
          <p:cNvSpPr/>
          <p:nvPr/>
        </p:nvSpPr>
        <p:spPr>
          <a:xfrm>
            <a:off x="10841040" y="6054480"/>
            <a:ext cx="68349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EAA02C81-41E7-4014-B1D0-73602F7EB0AA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5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9570888D-A628-4703-B905-D7DB43E1432D}"/>
              </a:ext>
            </a:extLst>
          </p:cNvPr>
          <p:cNvSpPr/>
          <p:nvPr/>
        </p:nvSpPr>
        <p:spPr>
          <a:xfrm>
            <a:off x="266864" y="1995147"/>
            <a:ext cx="10652573" cy="39098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  <a:buClr>
                <a:srgbClr val="000000"/>
              </a:buClr>
            </a:pPr>
            <a:r>
              <a:rPr lang="ru-RU" sz="2400" b="1" dirty="0">
                <a:solidFill>
                  <a:schemeClr val="dk1"/>
                </a:solidFill>
                <a:latin typeface="+mj-lt"/>
              </a:rPr>
              <a:t>Пользовательские т</a:t>
            </a:r>
            <a:r>
              <a:rPr lang="ru-RU" sz="2400" b="1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ребования к функционалу системы:</a:t>
            </a: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Произведение параметрического поиска</a:t>
            </a:r>
            <a:endParaRPr lang="ru-RU" sz="2400" dirty="0">
              <a:solidFill>
                <a:srgbClr val="000000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Возможность выбора режима работы прибора (выдать/измерить)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Возможность указания погрешности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Возможность выбора нескольких физических величин</a:t>
            </a:r>
            <a:endParaRPr lang="ru-RU" sz="2400" dirty="0">
              <a:solidFill>
                <a:srgbClr val="000000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Выдача дополнительных сведений о приборе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Выдача 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PDF-</a:t>
            </a:r>
            <a:r>
              <a:rPr lang="ru-RU" sz="24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документа соответствующего средства измерения</a:t>
            </a:r>
            <a:endParaRPr lang="ru-RU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6095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36" name="TextBox 2"/>
          <p:cNvSpPr/>
          <p:nvPr/>
        </p:nvSpPr>
        <p:spPr>
          <a:xfrm>
            <a:off x="1970494" y="149524"/>
            <a:ext cx="825005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Анализ подобных систем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Прямоугольник 6"/>
          <p:cNvSpPr/>
          <p:nvPr/>
        </p:nvSpPr>
        <p:spPr>
          <a:xfrm>
            <a:off x="10841040" y="6054480"/>
            <a:ext cx="68349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EAA02C81-41E7-4014-B1D0-73602F7EB0AA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6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" name="Таблица 8"/>
          <p:cNvGraphicFramePr/>
          <p:nvPr>
            <p:extLst>
              <p:ext uri="{D42A27DB-BD31-4B8C-83A1-F6EECF244321}">
                <p14:modId xmlns:p14="http://schemas.microsoft.com/office/powerpoint/2010/main" val="2887071598"/>
              </p:ext>
            </p:extLst>
          </p:nvPr>
        </p:nvGraphicFramePr>
        <p:xfrm>
          <a:off x="192261" y="1207774"/>
          <a:ext cx="11806517" cy="3444240"/>
        </p:xfrm>
        <a:graphic>
          <a:graphicData uri="http://schemas.openxmlformats.org/drawingml/2006/table">
            <a:tbl>
              <a:tblPr/>
              <a:tblGrid>
                <a:gridCol w="2087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05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Noto Sans"/>
                        </a:rPr>
                        <a:t>Продукт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Noto Sans"/>
                        </a:rPr>
                        <a:t>Плюсы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Noto Sans"/>
                        </a:rPr>
                        <a:t>Минусы</a:t>
                      </a:r>
                      <a:endParaRPr lang="ru-RU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Glean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корпоративный поиск по множеству источников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RAG-чат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цитирование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высокая стоимость при большом числе пользователей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зависимость от внешней инфраструктуры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9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it-IT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Microsoft Copilot + Azure AI Search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интеграция с экосистемой </a:t>
                      </a:r>
                      <a:r>
                        <a:rPr lang="ru-RU" sz="14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Microsoft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гибридный и семантический поиск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учет прав доступа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стоимость лицензий Microsoft 365, Copilot и Azure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привязка к облаку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93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Amazon Q Business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подключение множества источников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гибридный поиск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подписочная модель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зависимость от облака Amazon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не специализирован под метрологию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5376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Vectara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быстрый запуск RAG-прототипа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поддержка популярных форматов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гибридный поиск и ответы с цитатами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облачная модель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ru-RU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ограниченная адаптация под внутренние промышленные форматы и локальные базы предприятия</a:t>
                      </a:r>
                      <a:endParaRPr lang="ru-RU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TextBox 8"/>
          <p:cNvSpPr/>
          <p:nvPr/>
        </p:nvSpPr>
        <p:spPr>
          <a:xfrm>
            <a:off x="364120" y="4854308"/>
            <a:ext cx="10723105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 dirty="0">
                <a:solidFill>
                  <a:srgbClr val="0070C0"/>
                </a:solidFill>
                <a:effectLst/>
                <a:uFillTx/>
                <a:latin typeface="Noto Sans"/>
              </a:rPr>
              <a:t>Вывод: необходима собственная реализация </a:t>
            </a:r>
            <a:r>
              <a:rPr lang="en-US" sz="2000" b="0" u="none" strike="noStrike" dirty="0">
                <a:solidFill>
                  <a:srgbClr val="0070C0"/>
                </a:solidFill>
                <a:effectLst/>
                <a:uFillTx/>
                <a:latin typeface="Noto Sans"/>
              </a:rPr>
              <a:t>RAG-</a:t>
            </a:r>
            <a:r>
              <a:rPr lang="ru-RU" sz="2000" b="0" u="none" strike="noStrike" dirty="0">
                <a:solidFill>
                  <a:srgbClr val="0070C0"/>
                </a:solidFill>
                <a:effectLst/>
                <a:uFillTx/>
                <a:latin typeface="Noto Sans"/>
              </a:rPr>
              <a:t>системы под нужды предприятия</a:t>
            </a:r>
            <a:endParaRPr lang="ru-RU" sz="20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9"/>
          <p:cNvSpPr/>
          <p:nvPr/>
        </p:nvSpPr>
        <p:spPr>
          <a:xfrm>
            <a:off x="364120" y="5409991"/>
            <a:ext cx="9676696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000" b="0" u="none" strike="noStrike" dirty="0">
                <a:solidFill>
                  <a:srgbClr val="0070C0"/>
                </a:solidFill>
                <a:effectLst/>
                <a:uFillTx/>
                <a:latin typeface="Noto Sans"/>
              </a:rPr>
              <a:t>Главные условия: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rgbClr val="0070C0"/>
                </a:solidFill>
                <a:effectLst/>
                <a:uFillTx/>
                <a:latin typeface="Noto Sans"/>
              </a:rPr>
              <a:t>ориентированность на метрологию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rgbClr val="0070C0"/>
                </a:solidFill>
                <a:effectLst/>
                <a:uFillTx/>
                <a:latin typeface="Noto Sans"/>
              </a:rPr>
              <a:t>независимость от внешних инфраструктур</a:t>
            </a:r>
            <a:endParaRPr lang="ru-RU" sz="2000" b="0" u="none" strike="noStrike" dirty="0">
              <a:solidFill>
                <a:srgbClr val="0070C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1674326" y="149524"/>
            <a:ext cx="8842747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dirty="0">
                <a:solidFill>
                  <a:srgbClr val="FFFFFF"/>
                </a:solidFill>
                <a:latin typeface="Noto Sans"/>
              </a:rPr>
              <a:t>Общая а</a:t>
            </a: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рхитектура системы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Прямоугольник 6"/>
          <p:cNvSpPr/>
          <p:nvPr/>
        </p:nvSpPr>
        <p:spPr>
          <a:xfrm>
            <a:off x="10841040" y="6054480"/>
            <a:ext cx="68349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40856D22-FF71-4168-B3CA-3E2C9EFA1F1F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7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781C550-B2D2-46E3-A69B-3B0D270B5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2" y="1155004"/>
            <a:ext cx="10345271" cy="545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35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73356" y="149524"/>
            <a:ext cx="11244688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Архитектура серверной части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Прямоугольник 6"/>
          <p:cNvSpPr/>
          <p:nvPr/>
        </p:nvSpPr>
        <p:spPr>
          <a:xfrm>
            <a:off x="10841040" y="6054480"/>
            <a:ext cx="68349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40856D22-FF71-4168-B3CA-3E2C9EFA1F1F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8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518309-18E5-474F-A6E9-6A657A219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53" y="1558463"/>
            <a:ext cx="11456894" cy="42103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3496500" y="148680"/>
            <a:ext cx="519840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Выбор технологий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4" name="Таблица 4"/>
          <p:cNvGraphicFramePr/>
          <p:nvPr/>
        </p:nvGraphicFramePr>
        <p:xfrm>
          <a:off x="7625160" y="3103920"/>
          <a:ext cx="1975320" cy="1046880"/>
        </p:xfrm>
        <a:graphic>
          <a:graphicData uri="http://schemas.openxmlformats.org/drawingml/2006/table">
            <a:tbl>
              <a:tblPr/>
              <a:tblGrid>
                <a:gridCol w="1975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Noto Sans"/>
                        </a:rPr>
                        <a:t>База данных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MSSQL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5" name="Таблица 4"/>
          <p:cNvGraphicFramePr/>
          <p:nvPr/>
        </p:nvGraphicFramePr>
        <p:xfrm>
          <a:off x="2688120" y="2658600"/>
          <a:ext cx="1968120" cy="1191960"/>
        </p:xfrm>
        <a:graphic>
          <a:graphicData uri="http://schemas.openxmlformats.org/drawingml/2006/table">
            <a:tbl>
              <a:tblPr/>
              <a:tblGrid>
                <a:gridCol w="196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9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Noto Sans"/>
                        </a:rPr>
                        <a:t>Клиентская часть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JS + React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" name="Таблица 4"/>
          <p:cNvGraphicFramePr/>
          <p:nvPr/>
        </p:nvGraphicFramePr>
        <p:xfrm>
          <a:off x="253800" y="1404000"/>
          <a:ext cx="1873800" cy="1116720"/>
        </p:xfrm>
        <a:graphic>
          <a:graphicData uri="http://schemas.openxmlformats.org/drawingml/2006/table">
            <a:tbl>
              <a:tblPr/>
              <a:tblGrid>
                <a:gridCol w="187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3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800" b="1" u="none" strike="noStrike" dirty="0">
                          <a:solidFill>
                            <a:schemeClr val="lt1"/>
                          </a:solidFill>
                          <a:effectLst/>
                          <a:uFillTx/>
                          <a:latin typeface="Noto Sans"/>
                        </a:rPr>
                        <a:t>Серверная часть</a:t>
                      </a:r>
                      <a:endParaRPr lang="ru-RU" sz="18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Python</a:t>
                      </a:r>
                      <a:r>
                        <a:rPr lang="ru-RU" sz="18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 + </a:t>
                      </a:r>
                      <a:r>
                        <a:rPr lang="en-US" sz="18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Flask</a:t>
                      </a:r>
                      <a:endParaRPr lang="ru-RU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7" name="Таблица 15"/>
          <p:cNvGraphicFramePr/>
          <p:nvPr>
            <p:extLst>
              <p:ext uri="{D42A27DB-BD31-4B8C-83A1-F6EECF244321}">
                <p14:modId xmlns:p14="http://schemas.microsoft.com/office/powerpoint/2010/main" val="4064309491"/>
              </p:ext>
            </p:extLst>
          </p:nvPr>
        </p:nvGraphicFramePr>
        <p:xfrm>
          <a:off x="9928980" y="1401480"/>
          <a:ext cx="2087640" cy="1119240"/>
        </p:xfrm>
        <a:graphic>
          <a:graphicData uri="http://schemas.openxmlformats.org/drawingml/2006/table">
            <a:tbl>
              <a:tblPr/>
              <a:tblGrid>
                <a:gridCol w="208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8693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Noto Sans"/>
                        </a:rPr>
                        <a:t>Развертывание приложения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547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Docker</a:t>
                      </a:r>
                      <a:endParaRPr lang="ru-RU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8" name="Picture 18" descr="Logo device only"/>
          <p:cNvPicPr/>
          <p:nvPr/>
        </p:nvPicPr>
        <p:blipFill>
          <a:blip r:embed="rId2"/>
          <a:srcRect b="12577"/>
          <a:stretch/>
        </p:blipFill>
        <p:spPr>
          <a:xfrm>
            <a:off x="657720" y="2924280"/>
            <a:ext cx="1065960" cy="112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Рисунок 25"/>
          <p:cNvPicPr/>
          <p:nvPr/>
        </p:nvPicPr>
        <p:blipFill>
          <a:blip r:embed="rId3"/>
          <a:srcRect t="13299" r="62596" b="13487"/>
          <a:stretch/>
        </p:blipFill>
        <p:spPr>
          <a:xfrm>
            <a:off x="2921040" y="4080240"/>
            <a:ext cx="1451880" cy="133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Рисунок 31"/>
          <p:cNvPicPr>
            <a:picLocks noChangeAspect="1"/>
          </p:cNvPicPr>
          <p:nvPr/>
        </p:nvPicPr>
        <p:blipFill>
          <a:blip r:embed="rId4"/>
          <a:srcRect r="76054"/>
          <a:stretch/>
        </p:blipFill>
        <p:spPr>
          <a:xfrm>
            <a:off x="5610575" y="2919240"/>
            <a:ext cx="1020290" cy="113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Рисунок 33"/>
          <p:cNvPicPr/>
          <p:nvPr/>
        </p:nvPicPr>
        <p:blipFill>
          <a:blip r:embed="rId5"/>
          <a:srcRect r="22395"/>
          <a:stretch/>
        </p:blipFill>
        <p:spPr>
          <a:xfrm>
            <a:off x="7318080" y="4357080"/>
            <a:ext cx="2435040" cy="100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Рисунок 3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182960" y="2924280"/>
            <a:ext cx="1399440" cy="1160566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53" name="Таблица 15"/>
          <p:cNvGraphicFramePr/>
          <p:nvPr>
            <p:extLst>
              <p:ext uri="{D42A27DB-BD31-4B8C-83A1-F6EECF244321}">
                <p14:modId xmlns:p14="http://schemas.microsoft.com/office/powerpoint/2010/main" val="2928578842"/>
              </p:ext>
            </p:extLst>
          </p:nvPr>
        </p:nvGraphicFramePr>
        <p:xfrm>
          <a:off x="5242500" y="1404000"/>
          <a:ext cx="1756440" cy="1116720"/>
        </p:xfrm>
        <a:graphic>
          <a:graphicData uri="http://schemas.openxmlformats.org/drawingml/2006/table">
            <a:tbl>
              <a:tblPr/>
              <a:tblGrid>
                <a:gridCol w="1756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13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Noto Sans"/>
                        </a:rPr>
                        <a:t>Векторное хранилище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Noto Sans"/>
                        </a:rPr>
                        <a:t>Qdrant</a:t>
                      </a:r>
                      <a:endParaRPr lang="ru-RU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38160" y="4456800"/>
            <a:ext cx="2309760" cy="71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800" b="0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Отлично подходит  для работы с ИИ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50280" y="4053240"/>
            <a:ext cx="2540880" cy="1023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Интеграция с Python</a:t>
            </a:r>
          </a:p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Быстрый поиск</a:t>
            </a:r>
          </a:p>
        </p:txBody>
      </p:sp>
      <p:sp>
        <p:nvSpPr>
          <p:cNvPr id="56" name="Прямая соединительная линия 55"/>
          <p:cNvSpPr/>
          <p:nvPr/>
        </p:nvSpPr>
        <p:spPr>
          <a:xfrm>
            <a:off x="2387160" y="1005480"/>
            <a:ext cx="720" cy="5852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Прямая соединительная линия 56"/>
          <p:cNvSpPr/>
          <p:nvPr/>
        </p:nvSpPr>
        <p:spPr>
          <a:xfrm>
            <a:off x="4876560" y="1005480"/>
            <a:ext cx="720" cy="5852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Прямая соединительная линия 57"/>
          <p:cNvSpPr/>
          <p:nvPr/>
        </p:nvSpPr>
        <p:spPr>
          <a:xfrm>
            <a:off x="7391160" y="1005480"/>
            <a:ext cx="12960" cy="5852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Прямая соединительная линия 58"/>
          <p:cNvSpPr/>
          <p:nvPr/>
        </p:nvSpPr>
        <p:spPr>
          <a:xfrm>
            <a:off x="9753120" y="992880"/>
            <a:ext cx="1080" cy="58525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696440" y="5298840"/>
            <a:ext cx="1955880" cy="71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Классическая база данных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87880" y="5613120"/>
            <a:ext cx="2349000" cy="921876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ru-RU" sz="1800" b="0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Лёгкая реализация одностраничного сайта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53120" y="4488406"/>
            <a:ext cx="2616120" cy="1023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ru-RU" sz="1800" b="0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Обеспечивает воспроизводимость окружения</a:t>
            </a:r>
          </a:p>
        </p:txBody>
      </p:sp>
      <p:sp>
        <p:nvSpPr>
          <p:cNvPr id="24" name="Прямоугольник 6">
            <a:extLst>
              <a:ext uri="{FF2B5EF4-FFF2-40B4-BE49-F238E27FC236}">
                <a16:creationId xmlns:a16="http://schemas.microsoft.com/office/drawing/2014/main" id="{C4319DFD-CB5C-4B5D-8B3B-A3F8EA1EA5FA}"/>
              </a:ext>
            </a:extLst>
          </p:cNvPr>
          <p:cNvSpPr/>
          <p:nvPr/>
        </p:nvSpPr>
        <p:spPr>
          <a:xfrm>
            <a:off x="10841040" y="6054480"/>
            <a:ext cx="106084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40856D22-FF71-4168-B3CA-3E2C9EFA1F1F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9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 dirty="0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0" y="149524"/>
            <a:ext cx="121914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Схемы работы модуля загрузки документов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21FF18E5-F763-4D7A-B414-03058100C1D1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10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C191EF-1849-4368-AE65-E9960F734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48" y="1326776"/>
            <a:ext cx="10429082" cy="52104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E0A5C0-5369-472D-ACE8-9D9E1C0927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6"/>
          <a:stretch/>
        </p:blipFill>
        <p:spPr>
          <a:xfrm>
            <a:off x="1999041" y="2500396"/>
            <a:ext cx="9637059" cy="2949965"/>
          </a:xfrm>
          <a:prstGeom prst="rect">
            <a:avLst/>
          </a:prstGeom>
        </p:spPr>
      </p:pic>
      <p:sp>
        <p:nvSpPr>
          <p:cNvPr id="71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73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0A7FEBBE-18DF-4B02-B6F3-819CE0806CD9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11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847960" y="1196899"/>
            <a:ext cx="2185589" cy="398655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PDF-документ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58452" y="1203890"/>
            <a:ext cx="945642" cy="398655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+mj-lt"/>
              </a:rPr>
              <a:t>Текст</a:t>
            </a:r>
            <a:endParaRPr lang="ru-RU" sz="1800" b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77" name="Стрелка вправо 76"/>
          <p:cNvSpPr/>
          <p:nvPr/>
        </p:nvSpPr>
        <p:spPr>
          <a:xfrm>
            <a:off x="5377570" y="1225980"/>
            <a:ext cx="1440000" cy="360000"/>
          </a:xfrm>
          <a:prstGeom prst="rightArrow">
            <a:avLst>
              <a:gd name="adj1" fmla="val 35664"/>
              <a:gd name="adj2" fmla="val 85179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02" y="2169138"/>
            <a:ext cx="2548383" cy="361248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A7880441-37F8-4907-9449-9C0CAB2AD37F}"/>
              </a:ext>
            </a:extLst>
          </p:cNvPr>
          <p:cNvSpPr/>
          <p:nvPr/>
        </p:nvSpPr>
        <p:spPr>
          <a:xfrm>
            <a:off x="0" y="149524"/>
            <a:ext cx="121914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Схемы работы модуля загрузки документов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79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5D453A2E-EC58-433F-9546-63B62E07895E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12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724560" y="1260875"/>
            <a:ext cx="1038240" cy="398655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Текст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74480" y="1233360"/>
            <a:ext cx="1038240" cy="398655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ru-RU" sz="2000" b="1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Чанки</a:t>
            </a:r>
            <a:endParaRPr lang="ru-RU" sz="20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Стрелка вправо 83"/>
          <p:cNvSpPr/>
          <p:nvPr/>
        </p:nvSpPr>
        <p:spPr>
          <a:xfrm>
            <a:off x="5048640" y="1255680"/>
            <a:ext cx="1440000" cy="360000"/>
          </a:xfrm>
          <a:prstGeom prst="rightArrow">
            <a:avLst>
              <a:gd name="adj1" fmla="val 35664"/>
              <a:gd name="adj2" fmla="val 85179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56F178-0D7A-402B-8238-5D77119A2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64" y="1769401"/>
            <a:ext cx="10821000" cy="4654799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EEA0A450-95F9-47C7-A4BD-483C3B00652A}"/>
              </a:ext>
            </a:extLst>
          </p:cNvPr>
          <p:cNvSpPr/>
          <p:nvPr/>
        </p:nvSpPr>
        <p:spPr>
          <a:xfrm>
            <a:off x="0" y="149524"/>
            <a:ext cx="121914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Схемы работы модуля загрузки документов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86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201569DF-785B-4BAF-893C-EA6907C26321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13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711085" y="1235992"/>
            <a:ext cx="1032120" cy="398655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ru-RU" sz="2000" b="1" u="none" strike="noStrike" dirty="0" err="1">
                <a:solidFill>
                  <a:srgbClr val="000000"/>
                </a:solidFill>
                <a:effectLst/>
                <a:uFillTx/>
                <a:latin typeface="Noto Sans"/>
              </a:rPr>
              <a:t>Чанки</a:t>
            </a:r>
            <a:endParaRPr lang="ru-RU" sz="2000" b="1" u="none" strike="noStrike" dirty="0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794075" y="1216913"/>
            <a:ext cx="1991336" cy="398655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r>
              <a:rPr lang="ru-RU" sz="2000" b="1" u="none" strike="noStrike" dirty="0" err="1">
                <a:solidFill>
                  <a:srgbClr val="000000"/>
                </a:solidFill>
                <a:effectLst/>
                <a:uFillTx/>
                <a:latin typeface="+mj-lt"/>
              </a:rPr>
              <a:t>Эмбеддинги</a:t>
            </a:r>
            <a:endParaRPr lang="ru-RU" sz="2000" b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91" name="Стрелка вправо 90"/>
          <p:cNvSpPr/>
          <p:nvPr/>
        </p:nvSpPr>
        <p:spPr>
          <a:xfrm>
            <a:off x="5048640" y="1255320"/>
            <a:ext cx="1440000" cy="360000"/>
          </a:xfrm>
          <a:prstGeom prst="rightArrow">
            <a:avLst>
              <a:gd name="adj1" fmla="val 35664"/>
              <a:gd name="adj2" fmla="val 85179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39FC2F-D6F5-4DD8-8C26-31716333D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202" y="1827001"/>
            <a:ext cx="9063318" cy="4750612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8670B1A7-A864-4C91-8CA9-0E01463C6717}"/>
              </a:ext>
            </a:extLst>
          </p:cNvPr>
          <p:cNvSpPr/>
          <p:nvPr/>
        </p:nvSpPr>
        <p:spPr>
          <a:xfrm>
            <a:off x="0" y="149524"/>
            <a:ext cx="121914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Схемы работы модуля загрузки документов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86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201569DF-785B-4BAF-893C-EA6907C26321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14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851339" y="1077571"/>
            <a:ext cx="2829396" cy="1014209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ru-RU" sz="2000" b="1" u="none" strike="noStrike" dirty="0" err="1">
                <a:solidFill>
                  <a:srgbClr val="000000"/>
                </a:solidFill>
                <a:effectLst/>
                <a:uFillTx/>
                <a:latin typeface="+mj-lt"/>
              </a:rPr>
              <a:t>Эмбеддинги</a:t>
            </a:r>
            <a:endParaRPr lang="ru-RU" sz="2000" b="1" dirty="0">
              <a:solidFill>
                <a:srgbClr val="000000"/>
              </a:solidFill>
              <a:latin typeface="+mj-lt"/>
            </a:endParaRPr>
          </a:p>
          <a:p>
            <a:pPr algn="ctr"/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+mj-lt"/>
              </a:rPr>
              <a:t>+</a:t>
            </a:r>
          </a:p>
          <a:p>
            <a:pPr algn="ctr"/>
            <a:r>
              <a:rPr lang="ru-RU" sz="2000" b="1" dirty="0">
                <a:solidFill>
                  <a:srgbClr val="000000"/>
                </a:solidFill>
                <a:latin typeface="+mj-lt"/>
              </a:rPr>
              <a:t>доп. информация</a:t>
            </a:r>
            <a:endParaRPr lang="ru-RU" sz="2000" b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91" name="Стрелка вправо 90"/>
          <p:cNvSpPr/>
          <p:nvPr/>
        </p:nvSpPr>
        <p:spPr>
          <a:xfrm>
            <a:off x="5107360" y="1404675"/>
            <a:ext cx="1440000" cy="360000"/>
          </a:xfrm>
          <a:prstGeom prst="rightArrow">
            <a:avLst>
              <a:gd name="adj1" fmla="val 35664"/>
              <a:gd name="adj2" fmla="val 85179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11E74F-CE25-43CE-BAF7-F3CAAC35B5E5}"/>
              </a:ext>
            </a:extLst>
          </p:cNvPr>
          <p:cNvSpPr txBox="1"/>
          <p:nvPr/>
        </p:nvSpPr>
        <p:spPr>
          <a:xfrm>
            <a:off x="7084641" y="1384620"/>
            <a:ext cx="3256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/>
              <a:t>Векторное хранилище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295148-8D0E-40C0-83E0-0497045BA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39" y="2332281"/>
            <a:ext cx="6952135" cy="4377039"/>
          </a:xfrm>
          <a:prstGeom prst="rect">
            <a:avLst/>
          </a:prstGeom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AADF8340-363F-4689-A229-E93FC50337F6}"/>
              </a:ext>
            </a:extLst>
          </p:cNvPr>
          <p:cNvSpPr/>
          <p:nvPr/>
        </p:nvSpPr>
        <p:spPr>
          <a:xfrm>
            <a:off x="0" y="149524"/>
            <a:ext cx="1219140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Схемы работы модуля загрузки документов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7124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93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48A1C31D-31E5-4F71-BEBA-0A33F6F74509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15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1227419" y="148680"/>
            <a:ext cx="973656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Схемы работы клиентского модуля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812C8A3-46FE-4665-B17D-A4AFA0714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54" y="1278231"/>
            <a:ext cx="9875086" cy="51459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1692360" y="151034"/>
            <a:ext cx="880668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dirty="0">
                <a:solidFill>
                  <a:srgbClr val="FFFFFF"/>
                </a:solidFill>
                <a:latin typeface="Noto Sans"/>
              </a:rPr>
              <a:t>Демонстрация функционала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93FB7A41-EE87-4AFD-8364-306431454B4B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16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4140528" y="1156514"/>
            <a:ext cx="3910343" cy="460211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pPr algn="ctr"/>
            <a:r>
              <a:rPr lang="ru-RU" sz="2400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Параметрический поиск</a:t>
            </a:r>
            <a:endParaRPr lang="ru-RU" sz="2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1888892"/>
            <a:ext cx="10193340" cy="4535307"/>
          </a:xfrm>
          <a:prstGeom prst="rect">
            <a:avLst/>
          </a:prstGeom>
          <a:ln w="6350"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F4B29F16-0E25-4389-93EF-A49A3317C2BD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17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3574668" y="1154160"/>
            <a:ext cx="5042063" cy="460211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pPr algn="ctr"/>
            <a:r>
              <a:rPr lang="ru-RU" sz="2400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Выбор режима работы прибора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14" y="1861579"/>
            <a:ext cx="10356326" cy="45626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B0838EFB-8652-42D9-8421-2C0CBF886C8E}"/>
              </a:ext>
            </a:extLst>
          </p:cNvPr>
          <p:cNvSpPr/>
          <p:nvPr/>
        </p:nvSpPr>
        <p:spPr>
          <a:xfrm>
            <a:off x="1692360" y="151034"/>
            <a:ext cx="880668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dirty="0">
                <a:solidFill>
                  <a:srgbClr val="FFFFFF"/>
                </a:solidFill>
                <a:latin typeface="Noto Sans"/>
              </a:rPr>
              <a:t>Демонстрация функционала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EB4ED2AC-C880-4165-B4A8-50EE7B2624ED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18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Рисунок 5"/>
          <p:cNvPicPr/>
          <p:nvPr/>
        </p:nvPicPr>
        <p:blipFill>
          <a:blip r:embed="rId2"/>
          <a:srcRect l="14435" r="15008" b="39580"/>
          <a:stretch/>
        </p:blipFill>
        <p:spPr>
          <a:xfrm>
            <a:off x="276480" y="2059920"/>
            <a:ext cx="9447480" cy="455004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</p:pic>
      <p:sp>
        <p:nvSpPr>
          <p:cNvPr id="119" name="TextBox 118"/>
          <p:cNvSpPr txBox="1"/>
          <p:nvPr/>
        </p:nvSpPr>
        <p:spPr>
          <a:xfrm>
            <a:off x="2955108" y="1154160"/>
            <a:ext cx="6281184" cy="460211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pPr algn="ctr"/>
            <a:r>
              <a:rPr lang="ru-RU" sz="2400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Выбор нескольких физических величин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D4F05F-CDAA-4964-B096-96D46DE0682B}"/>
              </a:ext>
            </a:extLst>
          </p:cNvPr>
          <p:cNvSpPr/>
          <p:nvPr/>
        </p:nvSpPr>
        <p:spPr>
          <a:xfrm>
            <a:off x="1692360" y="151034"/>
            <a:ext cx="880668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dirty="0">
                <a:solidFill>
                  <a:srgbClr val="FFFFFF"/>
                </a:solidFill>
                <a:latin typeface="Noto Sans"/>
              </a:rPr>
              <a:t>Демонстрация функционала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8012BCAF-6520-4598-B218-0C6E7EC23D30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19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3202772" y="1154160"/>
            <a:ext cx="5785856" cy="460211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pPr algn="ctr"/>
            <a:r>
              <a:rPr lang="ru-RU" sz="2400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Возможность указания погрешности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866901"/>
            <a:ext cx="9747740" cy="4557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26786CA2-CAAF-439A-9E9B-343489101A9A}"/>
              </a:ext>
            </a:extLst>
          </p:cNvPr>
          <p:cNvSpPr/>
          <p:nvPr/>
        </p:nvSpPr>
        <p:spPr>
          <a:xfrm>
            <a:off x="1692360" y="151034"/>
            <a:ext cx="880668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dirty="0">
                <a:solidFill>
                  <a:srgbClr val="FFFFFF"/>
                </a:solidFill>
                <a:latin typeface="Noto Sans"/>
              </a:rPr>
              <a:t>Демонстрация функционала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A5A30AA1-C360-4C99-8DD3-31B4D04ACE09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20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Рисунок 5"/>
          <p:cNvPicPr/>
          <p:nvPr/>
        </p:nvPicPr>
        <p:blipFill>
          <a:blip r:embed="rId2"/>
          <a:srcRect l="14720" t="18639" r="15762" b="17403"/>
          <a:stretch/>
        </p:blipFill>
        <p:spPr>
          <a:xfrm>
            <a:off x="288705" y="1850985"/>
            <a:ext cx="9080280" cy="469872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</p:pic>
      <p:sp>
        <p:nvSpPr>
          <p:cNvPr id="124" name="TextBox 123"/>
          <p:cNvSpPr txBox="1"/>
          <p:nvPr/>
        </p:nvSpPr>
        <p:spPr>
          <a:xfrm>
            <a:off x="4553301" y="1154160"/>
            <a:ext cx="3084797" cy="460211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pPr algn="ctr"/>
            <a:r>
              <a:rPr lang="ru-RU" sz="2400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Выдача результата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A096CE03-846A-4EBD-A1C3-983991BCCD9B}"/>
              </a:ext>
            </a:extLst>
          </p:cNvPr>
          <p:cNvSpPr/>
          <p:nvPr/>
        </p:nvSpPr>
        <p:spPr>
          <a:xfrm>
            <a:off x="1692360" y="151034"/>
            <a:ext cx="880668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dirty="0">
                <a:solidFill>
                  <a:srgbClr val="FFFFFF"/>
                </a:solidFill>
                <a:latin typeface="Noto Sans"/>
              </a:rPr>
              <a:t>Демонстрация функционала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3FF528A2-924E-4E66-9D18-ADD59E827821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21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4416245" y="1154160"/>
            <a:ext cx="3358910" cy="460211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lstStyle/>
          <a:p>
            <a:pPr algn="ctr"/>
            <a:r>
              <a:rPr lang="ru-RU" sz="2400" u="none" strike="noStrike" dirty="0">
                <a:solidFill>
                  <a:srgbClr val="000000"/>
                </a:solidFill>
                <a:effectLst/>
                <a:uFillTx/>
                <a:latin typeface="Noto Sans"/>
              </a:rPr>
              <a:t>Открытие документа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82" y="1920975"/>
            <a:ext cx="8455885" cy="4584589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83A89039-1B9A-42A1-8BD3-7C1BA47E7F12}"/>
              </a:ext>
            </a:extLst>
          </p:cNvPr>
          <p:cNvSpPr/>
          <p:nvPr/>
        </p:nvSpPr>
        <p:spPr>
          <a:xfrm>
            <a:off x="1692360" y="151034"/>
            <a:ext cx="8806680" cy="70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dirty="0">
                <a:solidFill>
                  <a:srgbClr val="FFFFFF"/>
                </a:solidFill>
                <a:latin typeface="Noto Sans"/>
              </a:rPr>
              <a:t>Демонстрация функционала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837137" y="149524"/>
            <a:ext cx="10517125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Проверка соответстви</a:t>
            </a:r>
            <a:r>
              <a:rPr lang="ru-RU" sz="4000" b="1" dirty="0">
                <a:solidFill>
                  <a:srgbClr val="FFFFFF"/>
                </a:solidFill>
                <a:latin typeface="Noto Sans"/>
              </a:rPr>
              <a:t>я требованиям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3FF528A2-924E-4E66-9D18-ADD59E827821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22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D71AA-CB25-4920-BB08-05A833E8EF18}"/>
              </a:ext>
            </a:extLst>
          </p:cNvPr>
          <p:cNvSpPr txBox="1"/>
          <p:nvPr/>
        </p:nvSpPr>
        <p:spPr>
          <a:xfrm>
            <a:off x="729202" y="2023294"/>
            <a:ext cx="10732994" cy="2811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Произведение параметрического поиска					</a:t>
            </a:r>
            <a:r>
              <a:rPr lang="ru-RU" sz="2000" b="0" i="0" dirty="0">
                <a:effectLst/>
                <a:latin typeface="YS Text"/>
              </a:rPr>
              <a:t>✅</a:t>
            </a:r>
            <a:endParaRPr lang="ru-RU" sz="2000" dirty="0">
              <a:solidFill>
                <a:srgbClr val="000000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Возможность выбора режима работы прибора (выдать/измерить)	</a:t>
            </a:r>
            <a:r>
              <a:rPr lang="ru-RU" sz="2000" b="0" i="0" dirty="0">
                <a:effectLst/>
                <a:latin typeface="YS Text"/>
              </a:rPr>
              <a:t>✅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Возможность указания погрешности					</a:t>
            </a:r>
            <a:r>
              <a:rPr lang="ru-RU" sz="2000" b="0" i="0" dirty="0">
                <a:effectLst/>
                <a:latin typeface="YS Text"/>
              </a:rPr>
              <a:t>✅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Возможность выбора нескольких физических величин			</a:t>
            </a:r>
            <a:r>
              <a:rPr lang="ru-RU" sz="2000" b="0" i="0" dirty="0">
                <a:effectLst/>
                <a:latin typeface="YS Text"/>
              </a:rPr>
              <a:t>✅</a:t>
            </a:r>
            <a:endParaRPr lang="ru-RU" sz="2000" dirty="0">
              <a:solidFill>
                <a:srgbClr val="000000"/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Выдача дополнительных сведений о приборе				</a:t>
            </a:r>
            <a:r>
              <a:rPr lang="ru-RU" sz="2000" b="0" i="0" dirty="0">
                <a:effectLst/>
                <a:latin typeface="YS Text"/>
              </a:rPr>
              <a:t>✅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Выдача 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PDF-</a:t>
            </a:r>
            <a:r>
              <a:rPr lang="ru-RU" sz="2000" b="0" u="none" strike="noStrike" dirty="0">
                <a:solidFill>
                  <a:schemeClr val="dk1"/>
                </a:solidFill>
                <a:effectLst/>
                <a:uFillTx/>
                <a:latin typeface="+mj-lt"/>
              </a:rPr>
              <a:t>документа соответствующего средства измерения		</a:t>
            </a:r>
            <a:r>
              <a:rPr lang="ru-RU" sz="2000" b="0" i="0" dirty="0">
                <a:effectLst/>
                <a:latin typeface="YS Text"/>
              </a:rPr>
              <a:t>✅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52217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0" y="0"/>
            <a:ext cx="12191400" cy="100548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3683445" y="152820"/>
            <a:ext cx="4824508" cy="6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4000" b="1" u="none" strike="noStrike" dirty="0">
                <a:solidFill>
                  <a:srgbClr val="FFFFFF"/>
                </a:solidFill>
                <a:effectLst/>
                <a:uFillTx/>
                <a:latin typeface="Noto Sans"/>
              </a:rPr>
              <a:t>Заключение</a:t>
            </a:r>
            <a:endParaRPr lang="ru-RU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Прямоугольник 6"/>
          <p:cNvSpPr/>
          <p:nvPr/>
        </p:nvSpPr>
        <p:spPr>
          <a:xfrm>
            <a:off x="10841040" y="6054480"/>
            <a:ext cx="816547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fld id="{5C5E786D-0216-4758-ADDE-C512D3FAD8B8}" type="slidenum">
              <a:rPr lang="en-US" sz="1800" b="1" u="none" strike="noStrike" smtClean="0">
                <a:solidFill>
                  <a:schemeClr val="dk1"/>
                </a:solidFill>
                <a:effectLst/>
                <a:uFillTx/>
                <a:latin typeface="Segoe UI"/>
              </a:rPr>
              <a:t>23</a:t>
            </a:fld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/2</a:t>
            </a:r>
            <a:r>
              <a:rPr lang="ru-RU" sz="1800" b="1" u="none" strike="noStrike" dirty="0">
                <a:solidFill>
                  <a:schemeClr val="dk1"/>
                </a:solidFill>
                <a:effectLst/>
                <a:uFillTx/>
                <a:latin typeface="Segoe UI"/>
              </a:rPr>
              <a:t>3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63572" y="2304365"/>
            <a:ext cx="9664254" cy="2249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Цель ВКР выполнена: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Разработана </a:t>
            </a:r>
            <a:r>
              <a:rPr lang="en-US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RAG-</a:t>
            </a:r>
            <a:r>
              <a:rPr lang="ru-RU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система соответствующая выдвинутым требованиям метрологической службы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Ускорена работа метрологов и инженеров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</TotalTime>
  <Words>618</Words>
  <Application>Microsoft Office PowerPoint</Application>
  <PresentationFormat>Широкоэкранный</PresentationFormat>
  <Paragraphs>149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Arial</vt:lpstr>
      <vt:lpstr>Noto Sans</vt:lpstr>
      <vt:lpstr>Segoe UI</vt:lpstr>
      <vt:lpstr>Symbol</vt:lpstr>
      <vt:lpstr>Times New Roman</vt:lpstr>
      <vt:lpstr>Wingdings</vt:lpstr>
      <vt:lpstr>YS Text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АО «ММЗ»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подбора измерительных приборов</dc:title>
  <dc:subject>ВКР бакалавра по программной инженерии</dc:subject>
  <dc:creator>Kirill</dc:creator>
  <dc:description/>
  <cp:lastModifiedBy>Kirill</cp:lastModifiedBy>
  <cp:revision>71</cp:revision>
  <dcterms:created xsi:type="dcterms:W3CDTF">2026-06-10T17:35:13Z</dcterms:created>
  <dcterms:modified xsi:type="dcterms:W3CDTF">2026-06-15T17:20:49Z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24</vt:i4>
  </property>
</Properties>
</file>