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handoutMasterIdLst>
    <p:handoutMasterId r:id="rId27"/>
  </p:handoutMasterIdLst>
  <p:sldIdLst>
    <p:sldId id="256" r:id="rId2"/>
    <p:sldId id="286" r:id="rId3"/>
    <p:sldId id="291" r:id="rId4"/>
    <p:sldId id="287" r:id="rId5"/>
    <p:sldId id="289" r:id="rId6"/>
    <p:sldId id="290" r:id="rId7"/>
    <p:sldId id="304" r:id="rId8"/>
    <p:sldId id="327" r:id="rId9"/>
    <p:sldId id="311" r:id="rId10"/>
    <p:sldId id="312" r:id="rId11"/>
    <p:sldId id="323" r:id="rId12"/>
    <p:sldId id="328" r:id="rId13"/>
    <p:sldId id="292" r:id="rId14"/>
    <p:sldId id="310" r:id="rId15"/>
    <p:sldId id="293" r:id="rId16"/>
    <p:sldId id="299" r:id="rId17"/>
    <p:sldId id="300" r:id="rId18"/>
    <p:sldId id="301" r:id="rId19"/>
    <p:sldId id="302" r:id="rId20"/>
    <p:sldId id="313" r:id="rId21"/>
    <p:sldId id="314" r:id="rId22"/>
    <p:sldId id="315" r:id="rId23"/>
    <p:sldId id="316" r:id="rId24"/>
    <p:sldId id="317" r:id="rId2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Средний стиль 2 — акцент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47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65" d="100"/>
          <a:sy n="65" d="100"/>
        </p:scale>
        <p:origin x="3252" y="6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handoutMaster" Target="handoutMasters/handoutMaster1.xml"/><Relationship Id="rId30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E96E969-FBD7-4264-86DD-FB6E4B3B5BF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3803649E-1179-4B9B-AAA5-22FA23EF737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03E9E0-CA38-4D91-8D99-8DFCAC820452}" type="datetimeFigureOut">
              <a:rPr lang="ru-RU" smtClean="0"/>
              <a:t>11.06.2026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2A8DA43E-FF03-4F40-A391-B97B672892E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C515F3D-E986-4E81-A1E8-12FD89CF59F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5C609B-AD0E-4671-9AFD-36A9D6F3C45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928557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557146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B2D30A-ED29-4ED4-8268-9B55AAC3476B}" type="datetime1">
              <a:rPr lang="en-US" smtClean="0"/>
              <a:t>6/11/2026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1306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chemeClr val="accent5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65235" y="2073382"/>
            <a:ext cx="8739632" cy="5304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>
              <a:buNone/>
            </a:pPr>
            <a:r>
              <a:rPr lang="ru-RU" sz="3200" dirty="0">
                <a:solidFill>
                  <a:schemeClr val="bg1"/>
                </a:solidFill>
                <a:effectLst/>
                <a:latin typeface="+mj-lt"/>
                <a:ea typeface="Times New Roman" panose="02020603050405020304" pitchFamily="18" charset="0"/>
              </a:rPr>
              <a:t>Разработка </a:t>
            </a:r>
            <a:r>
              <a:rPr lang="en-US" sz="3200" dirty="0">
                <a:solidFill>
                  <a:schemeClr val="bg1"/>
                </a:solidFill>
                <a:effectLst/>
                <a:latin typeface="+mj-lt"/>
                <a:ea typeface="Times New Roman" panose="02020603050405020304" pitchFamily="18" charset="0"/>
              </a:rPr>
              <a:t>RAG</a:t>
            </a:r>
            <a:r>
              <a:rPr lang="ru-RU" sz="3200" dirty="0">
                <a:solidFill>
                  <a:schemeClr val="bg1"/>
                </a:solidFill>
                <a:effectLst/>
                <a:latin typeface="+mj-lt"/>
                <a:ea typeface="Times New Roman" panose="02020603050405020304" pitchFamily="18" charset="0"/>
              </a:rPr>
              <a:t>-системы для отдела метрологии</a:t>
            </a:r>
            <a:endParaRPr lang="en-US" sz="48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63FFD9EB-C6C2-4095-A7AF-F8B5436E5BD9}"/>
              </a:ext>
            </a:extLst>
          </p:cNvPr>
          <p:cNvSpPr/>
          <p:nvPr/>
        </p:nvSpPr>
        <p:spPr>
          <a:xfrm>
            <a:off x="565235" y="623851"/>
            <a:ext cx="10262680" cy="540212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33000"/>
              </a:lnSpc>
            </a:pPr>
            <a:r>
              <a:rPr lang="en-US" sz="2400" dirty="0" err="1">
                <a:solidFill>
                  <a:schemeClr val="bg1"/>
                </a:solidFill>
                <a:latin typeface="+mj-lt"/>
                <a:ea typeface="Segoe UI Black" panose="020B0A02040204020203" pitchFamily="34" charset="0"/>
                <a:cs typeface="Segoe UI" panose="020B0502040204020203" pitchFamily="34" charset="0"/>
              </a:rPr>
              <a:t>Выпускная</a:t>
            </a:r>
            <a:r>
              <a:rPr lang="en-US" sz="2400" dirty="0">
                <a:solidFill>
                  <a:schemeClr val="bg1"/>
                </a:solidFill>
                <a:latin typeface="+mj-lt"/>
                <a:ea typeface="Segoe UI Black" panose="020B0A02040204020203" pitchFamily="34" charset="0"/>
                <a:cs typeface="Segoe UI" panose="020B0502040204020203" pitchFamily="34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latin typeface="+mj-lt"/>
                <a:ea typeface="Segoe UI Black" panose="020B0A02040204020203" pitchFamily="34" charset="0"/>
                <a:cs typeface="Segoe UI" panose="020B0502040204020203" pitchFamily="34" charset="0"/>
              </a:rPr>
              <a:t>квалификационная</a:t>
            </a:r>
            <a:r>
              <a:rPr lang="en-US" sz="2400" dirty="0">
                <a:solidFill>
                  <a:schemeClr val="bg1"/>
                </a:solidFill>
                <a:latin typeface="+mj-lt"/>
                <a:ea typeface="Segoe UI Black" panose="020B0A02040204020203" pitchFamily="34" charset="0"/>
                <a:cs typeface="Segoe UI" panose="020B0502040204020203" pitchFamily="34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latin typeface="+mj-lt"/>
                <a:ea typeface="Segoe UI Black" panose="020B0A02040204020203" pitchFamily="34" charset="0"/>
                <a:cs typeface="Segoe UI" panose="020B0502040204020203" pitchFamily="34" charset="0"/>
              </a:rPr>
              <a:t>работа</a:t>
            </a:r>
            <a:r>
              <a:rPr lang="en-US" sz="2400" dirty="0">
                <a:solidFill>
                  <a:schemeClr val="bg1"/>
                </a:solidFill>
                <a:latin typeface="+mj-lt"/>
                <a:ea typeface="Segoe UI Black" panose="020B0A02040204020203" pitchFamily="34" charset="0"/>
                <a:cs typeface="Segoe UI" panose="020B0502040204020203" pitchFamily="34" charset="0"/>
              </a:rPr>
              <a:t> · </a:t>
            </a:r>
            <a:r>
              <a:rPr lang="en-US" sz="2400" dirty="0" err="1">
                <a:solidFill>
                  <a:schemeClr val="bg1"/>
                </a:solidFill>
                <a:latin typeface="+mj-lt"/>
                <a:ea typeface="Segoe UI Black" panose="020B0A02040204020203" pitchFamily="34" charset="0"/>
                <a:cs typeface="Segoe UI" panose="020B0502040204020203" pitchFamily="34" charset="0"/>
              </a:rPr>
              <a:t>Кафедра</a:t>
            </a:r>
            <a:r>
              <a:rPr lang="en-US" sz="2400" dirty="0">
                <a:solidFill>
                  <a:schemeClr val="bg1"/>
                </a:solidFill>
                <a:latin typeface="+mj-lt"/>
                <a:ea typeface="Segoe UI Black" panose="020B0A02040204020203" pitchFamily="34" charset="0"/>
                <a:cs typeface="Segoe UI" panose="020B0502040204020203" pitchFamily="34" charset="0"/>
              </a:rPr>
              <a:t> И</a:t>
            </a:r>
            <a:r>
              <a:rPr lang="ru-RU" sz="2400" dirty="0">
                <a:solidFill>
                  <a:schemeClr val="bg1"/>
                </a:solidFill>
                <a:latin typeface="+mj-lt"/>
                <a:ea typeface="Segoe UI Black" panose="020B0A02040204020203" pitchFamily="34" charset="0"/>
                <a:cs typeface="Segoe UI" panose="020B0502040204020203" pitchFamily="34" charset="0"/>
              </a:rPr>
              <a:t>и</a:t>
            </a:r>
            <a:r>
              <a:rPr lang="en-US" sz="2400" dirty="0">
                <a:solidFill>
                  <a:schemeClr val="bg1"/>
                </a:solidFill>
                <a:latin typeface="+mj-lt"/>
                <a:ea typeface="Segoe UI Black" panose="020B0A02040204020203" pitchFamily="34" charset="0"/>
                <a:cs typeface="Segoe UI" panose="020B0502040204020203" pitchFamily="34" charset="0"/>
              </a:rPr>
              <a:t>СП · 2026</a:t>
            </a:r>
          </a:p>
        </p:txBody>
      </p:sp>
      <p:sp>
        <p:nvSpPr>
          <p:cNvPr id="12" name="TextBox 5">
            <a:extLst>
              <a:ext uri="{FF2B5EF4-FFF2-40B4-BE49-F238E27FC236}">
                <a16:creationId xmlns:a16="http://schemas.microsoft.com/office/drawing/2014/main" id="{5077E888-2DBC-4CDC-97CB-C90B719BC736}"/>
              </a:ext>
            </a:extLst>
          </p:cNvPr>
          <p:cNvSpPr txBox="1"/>
          <p:nvPr/>
        </p:nvSpPr>
        <p:spPr>
          <a:xfrm>
            <a:off x="565235" y="3901268"/>
            <a:ext cx="5903298" cy="61811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450"/>
              </a:spcAft>
              <a:defRPr sz="1500">
                <a:solidFill>
                  <a:srgbClr val="B9E5FA"/>
                </a:solidFill>
                <a:latin typeface="Segoe UI"/>
              </a:defRPr>
            </a:pPr>
            <a:r>
              <a:rPr dirty="0" err="1">
                <a:solidFill>
                  <a:schemeClr val="bg1"/>
                </a:solidFill>
                <a:ea typeface="Segoe UI Black" panose="020B0A02040204020203" pitchFamily="34" charset="0"/>
              </a:rPr>
              <a:t>Студент</a:t>
            </a:r>
            <a:r>
              <a:rPr dirty="0">
                <a:solidFill>
                  <a:schemeClr val="bg1"/>
                </a:solidFill>
                <a:ea typeface="Segoe UI Black" panose="020B0A02040204020203" pitchFamily="34" charset="0"/>
              </a:rPr>
              <a:t>: </a:t>
            </a:r>
            <a:r>
              <a:rPr lang="ru-RU" dirty="0">
                <a:solidFill>
                  <a:schemeClr val="bg1"/>
                </a:solidFill>
                <a:ea typeface="Segoe UI Black" panose="020B0A02040204020203" pitchFamily="34" charset="0"/>
              </a:rPr>
              <a:t>Долгоруков Кирилл Леонидович, группа ПС-42</a:t>
            </a:r>
            <a:endParaRPr dirty="0">
              <a:solidFill>
                <a:schemeClr val="bg1"/>
              </a:solidFill>
              <a:ea typeface="Segoe UI Black" panose="020B0A02040204020203" pitchFamily="34" charset="0"/>
            </a:endParaRPr>
          </a:p>
          <a:p>
            <a:r>
              <a:rPr sz="1500" dirty="0" err="1">
                <a:solidFill>
                  <a:schemeClr val="bg1"/>
                </a:solidFill>
                <a:ea typeface="Segoe UI Black" panose="020B0A02040204020203" pitchFamily="34" charset="0"/>
              </a:rPr>
              <a:t>Руководитель</a:t>
            </a:r>
            <a:r>
              <a:rPr sz="1500" dirty="0">
                <a:solidFill>
                  <a:schemeClr val="bg1"/>
                </a:solidFill>
                <a:ea typeface="Segoe UI Black" panose="020B0A02040204020203" pitchFamily="34" charset="0"/>
              </a:rPr>
              <a:t>: </a:t>
            </a:r>
            <a:r>
              <a:rPr lang="ru-RU" sz="1500" dirty="0">
                <a:solidFill>
                  <a:schemeClr val="bg1"/>
                </a:solidFill>
                <a:ea typeface="Segoe UI Black" panose="020B0A02040204020203" pitchFamily="34" charset="0"/>
              </a:rPr>
              <a:t>доцент </a:t>
            </a:r>
            <a:r>
              <a:rPr lang="ru-RU" sz="1500" dirty="0" err="1">
                <a:solidFill>
                  <a:schemeClr val="bg1"/>
                </a:solidFill>
                <a:ea typeface="Segoe UI Black" panose="020B0A02040204020203" pitchFamily="34" charset="0"/>
              </a:rPr>
              <a:t>Нехорошкова</a:t>
            </a:r>
            <a:r>
              <a:rPr lang="ru-RU" sz="1500" dirty="0">
                <a:solidFill>
                  <a:schemeClr val="bg1"/>
                </a:solidFill>
                <a:ea typeface="Segoe UI Black" panose="020B0A02040204020203" pitchFamily="34" charset="0"/>
              </a:rPr>
              <a:t> Л. Г.</a:t>
            </a:r>
          </a:p>
        </p:txBody>
      </p:sp>
      <p:pic>
        <p:nvPicPr>
          <p:cNvPr id="13" name="Picture 3">
            <a:extLst>
              <a:ext uri="{FF2B5EF4-FFF2-40B4-BE49-F238E27FC236}">
                <a16:creationId xmlns:a16="http://schemas.microsoft.com/office/drawing/2014/main" id="{F36D6D14-0EE5-4993-8EA6-66850A3B92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5235" y="5296321"/>
            <a:ext cx="4133851" cy="1088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4">
            <a:extLst>
              <a:ext uri="{FF2B5EF4-FFF2-40B4-BE49-F238E27FC236}">
                <a16:creationId xmlns:a16="http://schemas.microsoft.com/office/drawing/2014/main" id="{542E07A2-50AC-406A-B71E-C07E71FC68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33896" y="5439890"/>
            <a:ext cx="4133850" cy="10294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050095" y="154021"/>
            <a:ext cx="409150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rPr sz="4000" dirty="0" err="1">
                <a:latin typeface="+mj-lt"/>
              </a:rPr>
              <a:t>Актуальность</a:t>
            </a:r>
            <a:endParaRPr sz="4000" dirty="0">
              <a:latin typeface="+mj-l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64855" y="1087883"/>
            <a:ext cx="10562421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007DBA"/>
                </a:solidFill>
                <a:latin typeface="Segoe UI"/>
              </a:defRPr>
            </a:pPr>
            <a:r>
              <a:rPr sz="2800" dirty="0" err="1">
                <a:solidFill>
                  <a:srgbClr val="0070C0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Проблема</a:t>
            </a:r>
            <a:r>
              <a:rPr sz="2800" dirty="0">
                <a:solidFill>
                  <a:srgbClr val="0070C0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lang="ru-RU" sz="2800" dirty="0">
                <a:solidFill>
                  <a:srgbClr val="0070C0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трудоёмкого подбора измерительных приборов</a:t>
            </a:r>
            <a:r>
              <a:rPr sz="2800" dirty="0">
                <a:solidFill>
                  <a:srgbClr val="0070C0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800" dirty="0" err="1">
                <a:solidFill>
                  <a:srgbClr val="0070C0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на</a:t>
            </a:r>
            <a:r>
              <a:rPr sz="2800" dirty="0">
                <a:solidFill>
                  <a:srgbClr val="0070C0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800" dirty="0" err="1">
                <a:solidFill>
                  <a:srgbClr val="0070C0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заводе</a:t>
            </a:r>
            <a:r>
              <a:rPr sz="2800" dirty="0">
                <a:solidFill>
                  <a:srgbClr val="0070C0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 АО «ММЗ»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20524" y="2652066"/>
            <a:ext cx="10350951" cy="2741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24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На</a:t>
            </a:r>
            <a:r>
              <a:rPr sz="2400" dirty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lang="ru-RU" sz="2400" dirty="0">
                <a:latin typeface="Segoe UI Black" panose="020B0A02040204020203" pitchFamily="34" charset="0"/>
                <a:ea typeface="Segoe UI Black" panose="020B0A02040204020203" pitchFamily="34" charset="0"/>
              </a:rPr>
              <a:t>производстве</a:t>
            </a:r>
            <a:r>
              <a:rPr sz="2400" dirty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lang="en-US" sz="2400" dirty="0" err="1">
                <a:solidFill>
                  <a:srgbClr val="0E273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используются</a:t>
            </a:r>
            <a:r>
              <a:rPr lang="en-US" sz="2400" dirty="0">
                <a:solidFill>
                  <a:srgbClr val="0E273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</a:t>
            </a:r>
            <a:r>
              <a:rPr lang="en-US" sz="2400" dirty="0" err="1">
                <a:solidFill>
                  <a:srgbClr val="0E273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тысячи</a:t>
            </a:r>
            <a:r>
              <a:rPr lang="en-US" sz="2400" dirty="0">
                <a:solidFill>
                  <a:srgbClr val="0E273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</a:t>
            </a:r>
            <a:r>
              <a:rPr lang="en-US" sz="2400" dirty="0" err="1">
                <a:solidFill>
                  <a:srgbClr val="0E273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средств</a:t>
            </a:r>
            <a:r>
              <a:rPr lang="en-US" sz="2400" dirty="0">
                <a:solidFill>
                  <a:srgbClr val="0E273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</a:t>
            </a:r>
            <a:r>
              <a:rPr lang="en-US" sz="2400" dirty="0" err="1">
                <a:solidFill>
                  <a:srgbClr val="0E273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измерений</a:t>
            </a:r>
            <a:r>
              <a:rPr lang="en-US" sz="2400" dirty="0">
                <a:solidFill>
                  <a:srgbClr val="0E273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, </a:t>
            </a:r>
            <a:r>
              <a:rPr lang="en-US" sz="2400" dirty="0" err="1">
                <a:solidFill>
                  <a:srgbClr val="0E273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паспортов</a:t>
            </a:r>
            <a:r>
              <a:rPr lang="ru-RU" sz="2400" dirty="0">
                <a:solidFill>
                  <a:srgbClr val="0E273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и</a:t>
            </a:r>
            <a:r>
              <a:rPr lang="en-US" sz="2400" dirty="0">
                <a:solidFill>
                  <a:srgbClr val="0E273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</a:t>
            </a:r>
            <a:r>
              <a:rPr lang="en-US" sz="2400" dirty="0" err="1">
                <a:solidFill>
                  <a:srgbClr val="0E273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описаний</a:t>
            </a:r>
            <a:r>
              <a:rPr lang="en-US" sz="2400" dirty="0">
                <a:solidFill>
                  <a:srgbClr val="0E273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</a:t>
            </a:r>
            <a:r>
              <a:rPr lang="en-US" sz="2400" dirty="0" err="1">
                <a:solidFill>
                  <a:srgbClr val="0E273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типов</a:t>
            </a:r>
            <a:r>
              <a:rPr lang="en-US" sz="2400" dirty="0">
                <a:solidFill>
                  <a:srgbClr val="0E273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.</a:t>
            </a:r>
            <a:endParaRPr lang="en-US" sz="2400" dirty="0"/>
          </a:p>
          <a:p>
            <a:pPr>
              <a:spcAft>
                <a:spcPts val="480"/>
              </a:spcAft>
              <a:defRPr sz="1600">
                <a:solidFill>
                  <a:srgbClr val="333333"/>
                </a:solidFill>
                <a:latin typeface="Segoe UI"/>
              </a:defRPr>
            </a:pPr>
            <a:r>
              <a:rPr lang="en-US" sz="2400" b="1" dirty="0" err="1">
                <a:solidFill>
                  <a:srgbClr val="0E273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При</a:t>
            </a:r>
            <a:r>
              <a:rPr lang="en-US" sz="2400" b="1" dirty="0">
                <a:solidFill>
                  <a:srgbClr val="0E273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</a:t>
            </a:r>
            <a:r>
              <a:rPr lang="en-US" sz="2400" b="1" dirty="0" err="1">
                <a:solidFill>
                  <a:srgbClr val="0E273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ручном</a:t>
            </a:r>
            <a:r>
              <a:rPr lang="en-US" sz="2400" b="1" dirty="0">
                <a:solidFill>
                  <a:srgbClr val="0E273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</a:t>
            </a:r>
            <a:r>
              <a:rPr lang="en-US" sz="2400" b="1" dirty="0" err="1">
                <a:solidFill>
                  <a:srgbClr val="0E273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поиске</a:t>
            </a:r>
            <a:r>
              <a:rPr lang="ru-RU" sz="2400" b="1" dirty="0">
                <a:solidFill>
                  <a:srgbClr val="0E2733"/>
                </a:solidFill>
                <a:latin typeface="Segoe UI"/>
                <a:cs typeface="Noto Sans" pitchFamily="34" charset="-120"/>
              </a:rPr>
              <a:t> </a:t>
            </a:r>
            <a:r>
              <a:rPr lang="en-US" sz="2400" dirty="0" err="1">
                <a:solidFill>
                  <a:srgbClr val="0E273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метролог</a:t>
            </a:r>
            <a:r>
              <a:rPr lang="en-US" sz="2400" dirty="0">
                <a:solidFill>
                  <a:srgbClr val="0E273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</a:t>
            </a:r>
            <a:r>
              <a:rPr lang="en-US" sz="2400" dirty="0" err="1">
                <a:solidFill>
                  <a:srgbClr val="0E273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сопоставляет</a:t>
            </a:r>
            <a:r>
              <a:rPr lang="en-US" sz="2400" dirty="0">
                <a:solidFill>
                  <a:srgbClr val="0E273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</a:t>
            </a:r>
            <a:r>
              <a:rPr lang="en-US" sz="2400" dirty="0" err="1">
                <a:solidFill>
                  <a:srgbClr val="0E273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диапазоны</a:t>
            </a:r>
            <a:r>
              <a:rPr lang="en-US" sz="2400" dirty="0">
                <a:solidFill>
                  <a:srgbClr val="0E273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, </a:t>
            </a:r>
            <a:r>
              <a:rPr lang="en-US" sz="2400" dirty="0" err="1">
                <a:solidFill>
                  <a:srgbClr val="0E273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погрешности</a:t>
            </a:r>
            <a:r>
              <a:rPr lang="en-US" sz="2400" dirty="0">
                <a:solidFill>
                  <a:srgbClr val="0E273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, </a:t>
            </a:r>
            <a:r>
              <a:rPr lang="en-US" sz="2400" dirty="0" err="1">
                <a:solidFill>
                  <a:srgbClr val="0E273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единицы</a:t>
            </a:r>
            <a:r>
              <a:rPr lang="en-US" sz="2400" dirty="0">
                <a:solidFill>
                  <a:srgbClr val="0E273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</a:t>
            </a:r>
            <a:r>
              <a:rPr lang="en-US" sz="2400" dirty="0" err="1">
                <a:solidFill>
                  <a:srgbClr val="0E273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измерения</a:t>
            </a:r>
            <a:r>
              <a:rPr lang="en-US" sz="2400" dirty="0">
                <a:solidFill>
                  <a:srgbClr val="0E273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и </a:t>
            </a:r>
            <a:r>
              <a:rPr lang="en-US" sz="2400" dirty="0" err="1">
                <a:solidFill>
                  <a:srgbClr val="0E273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место</a:t>
            </a:r>
            <a:r>
              <a:rPr lang="en-US" sz="2400" dirty="0">
                <a:solidFill>
                  <a:srgbClr val="0E273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</a:t>
            </a:r>
            <a:r>
              <a:rPr lang="en-US" sz="2400" dirty="0" err="1">
                <a:solidFill>
                  <a:srgbClr val="0E273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размещения</a:t>
            </a:r>
            <a:r>
              <a:rPr lang="en-US" sz="2400" dirty="0">
                <a:solidFill>
                  <a:srgbClr val="0E273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</a:t>
            </a:r>
            <a:r>
              <a:rPr lang="en-US" sz="2400" dirty="0" err="1">
                <a:solidFill>
                  <a:srgbClr val="0E273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вручную</a:t>
            </a:r>
            <a:r>
              <a:rPr lang="en-US" sz="2400" dirty="0">
                <a:solidFill>
                  <a:srgbClr val="0E273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.</a:t>
            </a:r>
            <a:endParaRPr lang="en-US" sz="2400" dirty="0"/>
          </a:p>
          <a:p>
            <a:pPr>
              <a:spcAft>
                <a:spcPts val="480"/>
              </a:spcAft>
              <a:defRPr sz="1600">
                <a:solidFill>
                  <a:srgbClr val="333333"/>
                </a:solidFill>
                <a:latin typeface="Segoe UI"/>
              </a:defRPr>
            </a:pPr>
            <a:r>
              <a:rPr lang="en-US" sz="2400" b="1" dirty="0" err="1">
                <a:solidFill>
                  <a:srgbClr val="0E273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Ценность</a:t>
            </a:r>
            <a:r>
              <a:rPr lang="en-US" sz="2400" b="1" dirty="0">
                <a:solidFill>
                  <a:srgbClr val="0E273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</a:t>
            </a:r>
            <a:r>
              <a:rPr lang="ru-RU" sz="2400" b="1" dirty="0">
                <a:solidFill>
                  <a:srgbClr val="0E273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моей </a:t>
            </a:r>
            <a:r>
              <a:rPr lang="en-US" sz="2400" b="1" dirty="0" err="1">
                <a:solidFill>
                  <a:srgbClr val="0E273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системы</a:t>
            </a:r>
            <a:r>
              <a:rPr lang="ru-RU" sz="2400" b="1" dirty="0">
                <a:solidFill>
                  <a:srgbClr val="0E273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в </a:t>
            </a:r>
            <a:r>
              <a:rPr lang="en-US" sz="2400" dirty="0" err="1">
                <a:solidFill>
                  <a:srgbClr val="0E273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сокращени</a:t>
            </a:r>
            <a:r>
              <a:rPr lang="ru-RU" sz="2400" dirty="0">
                <a:solidFill>
                  <a:srgbClr val="0E273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и</a:t>
            </a:r>
            <a:r>
              <a:rPr lang="en-US" sz="2400" dirty="0">
                <a:solidFill>
                  <a:srgbClr val="0E273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</a:t>
            </a:r>
            <a:r>
              <a:rPr lang="en-US" sz="2400" dirty="0" err="1">
                <a:solidFill>
                  <a:srgbClr val="0E273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времени</a:t>
            </a:r>
            <a:r>
              <a:rPr lang="en-US" sz="2400" dirty="0">
                <a:solidFill>
                  <a:srgbClr val="0E273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</a:t>
            </a:r>
            <a:r>
              <a:rPr lang="en-US" sz="2400" dirty="0" err="1">
                <a:solidFill>
                  <a:srgbClr val="0E273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поиска</a:t>
            </a:r>
            <a:r>
              <a:rPr lang="en-US" sz="2400" dirty="0">
                <a:solidFill>
                  <a:srgbClr val="0E273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, </a:t>
            </a:r>
            <a:r>
              <a:rPr lang="en-US" sz="2400" dirty="0" err="1">
                <a:solidFill>
                  <a:srgbClr val="0E273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снижение</a:t>
            </a:r>
            <a:r>
              <a:rPr lang="en-US" sz="2400" dirty="0">
                <a:solidFill>
                  <a:srgbClr val="0E273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</a:t>
            </a:r>
            <a:r>
              <a:rPr lang="en-US" sz="2400" dirty="0" err="1">
                <a:solidFill>
                  <a:srgbClr val="0E273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риска</a:t>
            </a:r>
            <a:r>
              <a:rPr lang="en-US" sz="2400" dirty="0">
                <a:solidFill>
                  <a:srgbClr val="0E273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</a:t>
            </a:r>
            <a:r>
              <a:rPr lang="en-US" sz="2400" dirty="0" err="1">
                <a:solidFill>
                  <a:srgbClr val="0E273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ошибки</a:t>
            </a:r>
            <a:r>
              <a:rPr lang="en-US" sz="2400" dirty="0">
                <a:solidFill>
                  <a:srgbClr val="0E273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и </a:t>
            </a:r>
            <a:r>
              <a:rPr lang="en-US" sz="2400" dirty="0" err="1">
                <a:solidFill>
                  <a:srgbClr val="0E273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работа</a:t>
            </a:r>
            <a:r>
              <a:rPr lang="en-US" sz="2400" dirty="0">
                <a:solidFill>
                  <a:srgbClr val="0E273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</a:t>
            </a:r>
            <a:r>
              <a:rPr lang="en-US" sz="2400" dirty="0" err="1">
                <a:solidFill>
                  <a:srgbClr val="0E273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без</a:t>
            </a:r>
            <a:r>
              <a:rPr lang="en-US" sz="2400" dirty="0">
                <a:solidFill>
                  <a:srgbClr val="0E273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</a:t>
            </a:r>
            <a:r>
              <a:rPr lang="en-US" sz="2400" dirty="0" err="1">
                <a:solidFill>
                  <a:srgbClr val="0E273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передачи</a:t>
            </a:r>
            <a:r>
              <a:rPr lang="en-US" sz="2400" dirty="0">
                <a:solidFill>
                  <a:srgbClr val="0E273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</a:t>
            </a:r>
            <a:r>
              <a:rPr lang="en-US" sz="2400" dirty="0" err="1">
                <a:solidFill>
                  <a:srgbClr val="0E273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данных</a:t>
            </a:r>
            <a:r>
              <a:rPr lang="en-US" sz="2400" dirty="0">
                <a:solidFill>
                  <a:srgbClr val="0E273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</a:t>
            </a:r>
            <a:r>
              <a:rPr lang="en-US" sz="2400" dirty="0" err="1">
                <a:solidFill>
                  <a:srgbClr val="0E273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во</a:t>
            </a:r>
            <a:r>
              <a:rPr lang="en-US" sz="2400" dirty="0">
                <a:solidFill>
                  <a:srgbClr val="0E273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</a:t>
            </a:r>
            <a:r>
              <a:rPr lang="en-US" sz="2400" dirty="0" err="1">
                <a:solidFill>
                  <a:srgbClr val="0E273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внешние</a:t>
            </a:r>
            <a:r>
              <a:rPr lang="en-US" sz="2400" dirty="0">
                <a:solidFill>
                  <a:srgbClr val="0E273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</a:t>
            </a:r>
            <a:r>
              <a:rPr lang="en-US" sz="2400" dirty="0" err="1">
                <a:solidFill>
                  <a:srgbClr val="0E273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сервисы</a:t>
            </a:r>
            <a:r>
              <a:rPr lang="en-US" sz="2400" dirty="0">
                <a:solidFill>
                  <a:srgbClr val="0E273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.</a:t>
            </a:r>
            <a:endParaRPr lang="en-US" sz="2400" dirty="0"/>
          </a:p>
        </p:txBody>
      </p:sp>
      <p:sp>
        <p:nvSpPr>
          <p:cNvPr id="7" name="Прямоугольник 6"/>
          <p:cNvSpPr/>
          <p:nvPr/>
        </p:nvSpPr>
        <p:spPr>
          <a:xfrm>
            <a:off x="10840870" y="6054593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fld id="{C1FF6DA9-008F-8B48-92A6-B652298478BF}" type="slidenum">
              <a:rPr lang="en-US" b="1" smtClean="0">
                <a:latin typeface="Segoe UI" panose="020B0502040204020203" pitchFamily="34" charset="0"/>
                <a:cs typeface="Segoe UI" panose="020B0502040204020203" pitchFamily="34" charset="0"/>
              </a:rPr>
              <a:pPr/>
              <a:t>2</a:t>
            </a:fld>
            <a:r>
              <a:rPr lang="en-US" b="1" dirty="0">
                <a:latin typeface="Segoe UI" panose="020B0502040204020203" pitchFamily="34" charset="0"/>
                <a:cs typeface="Segoe UI" panose="020B0502040204020203" pitchFamily="34" charset="0"/>
              </a:rPr>
              <a:t>/2</a:t>
            </a:r>
            <a:r>
              <a:rPr lang="ru-RU" b="1" dirty="0">
                <a:latin typeface="Segoe UI" panose="020B0502040204020203" pitchFamily="34" charset="0"/>
                <a:cs typeface="Segoe UI" panose="020B0502040204020203" pitchFamily="34" charset="0"/>
              </a:rPr>
              <a:t>6</a:t>
            </a:r>
            <a:endParaRPr lang="en-US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437149" y="149879"/>
            <a:ext cx="531739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rPr lang="ru-RU" sz="4000" dirty="0">
                <a:latin typeface="+mj-lt"/>
              </a:rPr>
              <a:t>Путь пользователя</a:t>
            </a:r>
            <a:endParaRPr sz="4000" dirty="0">
              <a:latin typeface="+mj-lt"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10840870" y="6054593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fld id="{C1FF6DA9-008F-8B48-92A6-B652298478BF}" type="slidenum">
              <a:rPr lang="en-US" b="1" smtClean="0">
                <a:latin typeface="Segoe UI" panose="020B0502040204020203" pitchFamily="34" charset="0"/>
                <a:cs typeface="Segoe UI" panose="020B0502040204020203" pitchFamily="34" charset="0"/>
              </a:rPr>
              <a:pPr/>
              <a:t>3</a:t>
            </a:fld>
            <a:r>
              <a:rPr lang="en-US" b="1" dirty="0">
                <a:latin typeface="Segoe UI" panose="020B0502040204020203" pitchFamily="34" charset="0"/>
                <a:cs typeface="Segoe UI" panose="020B0502040204020203" pitchFamily="34" charset="0"/>
              </a:rPr>
              <a:t>/2</a:t>
            </a:r>
            <a:r>
              <a:rPr lang="ru-RU" b="1" dirty="0">
                <a:latin typeface="Segoe UI" panose="020B0502040204020203" pitchFamily="34" charset="0"/>
                <a:cs typeface="Segoe UI" panose="020B0502040204020203" pitchFamily="34" charset="0"/>
              </a:rPr>
              <a:t>6</a:t>
            </a:r>
            <a:endParaRPr lang="en-US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3C3AD01-DDE7-4249-956B-1968CA6EB3A1}"/>
              </a:ext>
            </a:extLst>
          </p:cNvPr>
          <p:cNvSpPr txBox="1"/>
          <p:nvPr/>
        </p:nvSpPr>
        <p:spPr>
          <a:xfrm>
            <a:off x="2600035" y="1693333"/>
            <a:ext cx="4828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До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5C73DA-F681-456C-BDE8-1526FB478240}"/>
              </a:ext>
            </a:extLst>
          </p:cNvPr>
          <p:cNvSpPr txBox="1"/>
          <p:nvPr/>
        </p:nvSpPr>
        <p:spPr>
          <a:xfrm>
            <a:off x="8726022" y="1676399"/>
            <a:ext cx="8659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После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F3D0B0B5-94DD-44E7-892D-F1C0A03DDB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878" y="2268013"/>
            <a:ext cx="5471139" cy="2745553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D84096E9-2B25-4122-95D2-BC3A385C99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5539" y="2934402"/>
            <a:ext cx="5549787" cy="1146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89624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852603" y="146471"/>
            <a:ext cx="448648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rPr lang="ru-RU" sz="4000" dirty="0">
                <a:latin typeface="+mj-lt"/>
              </a:rPr>
              <a:t>Цели и задачи</a:t>
            </a:r>
            <a:endParaRPr sz="4000" dirty="0">
              <a:latin typeface="+mj-l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05" y="1005840"/>
            <a:ext cx="12191695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007DBA"/>
                </a:solidFill>
                <a:latin typeface="Segoe UI"/>
              </a:defRPr>
            </a:pPr>
            <a:r>
              <a:rPr lang="ru-RU" sz="2800" dirty="0">
                <a:solidFill>
                  <a:srgbClr val="0070C0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Цель: </a:t>
            </a:r>
            <a:r>
              <a:rPr lang="ru-RU" sz="2800" dirty="0">
                <a:solidFill>
                  <a:srgbClr val="0070C0"/>
                </a:solidFill>
                <a:ea typeface="Segoe UI Black" panose="020B0A02040204020203" pitchFamily="34" charset="0"/>
                <a:cs typeface="Arial" panose="020B0604020202020204" pitchFamily="34" charset="0"/>
              </a:rPr>
              <a:t>разработка вопросно-ответной RAG-системы для автоматизированного подбора средств измерений по запросам метрологов и инженеров на основе описаний типов, загруженных в базу знаний, и сведений из внутренней базы данных предприятия</a:t>
            </a:r>
            <a:endParaRPr sz="2800" dirty="0">
              <a:solidFill>
                <a:srgbClr val="0070C0"/>
              </a:solidFill>
              <a:ea typeface="Segoe UI Black" panose="020B0A02040204020203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05" y="3199622"/>
            <a:ext cx="12191695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ru-RU" sz="2400" dirty="0">
                <a:latin typeface="Segoe UI Black" panose="020B0A02040204020203" pitchFamily="34" charset="0"/>
                <a:ea typeface="Segoe UI Black" panose="020B0A02040204020203" pitchFamily="34" charset="0"/>
              </a:rPr>
              <a:t>Задачи:</a:t>
            </a:r>
          </a:p>
          <a:p>
            <a:pPr marL="285750" indent="-285750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8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Изучить предметную область метрологии на предприятии и определить основные сценарии поиска средств измерений</a:t>
            </a:r>
          </a:p>
          <a:p>
            <a:pPr marL="285750" indent="-285750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8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Собрать и уточнить требования к автоматизированной системе совместно со специалистами метрологической службы</a:t>
            </a:r>
          </a:p>
          <a:p>
            <a:pPr marL="285750" indent="-285750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8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Изучить принципы работы RAG-систем, векторного поиска, </a:t>
            </a:r>
            <a:r>
              <a:rPr lang="ru-RU" sz="1800" b="0" i="0" u="none" strike="noStrike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эмбеддингов</a:t>
            </a:r>
            <a:r>
              <a:rPr lang="ru-RU" sz="18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и повторного ранжирования</a:t>
            </a:r>
          </a:p>
          <a:p>
            <a:pPr marL="285750" indent="-285750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8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Спроектировать архитектуру системы</a:t>
            </a:r>
          </a:p>
          <a:p>
            <a:pPr marL="285750" indent="-285750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8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Реализовать модуль загрузки и обработки PDF-документов</a:t>
            </a:r>
          </a:p>
          <a:p>
            <a:pPr marL="285750" indent="-285750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8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Реализовать серверную часть приложения и REST API для взаимодействия с клиентской частью</a:t>
            </a:r>
          </a:p>
          <a:p>
            <a:pPr marL="285750" indent="-285750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8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Провести функциональную проверку системы</a:t>
            </a:r>
          </a:p>
          <a:p>
            <a:pPr marL="285750" indent="-285750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8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Оценить соответствие системы требованиям по времени ответа, автономности и удобству использования</a:t>
            </a:r>
            <a:br>
              <a:rPr lang="ru-RU" sz="2400" dirty="0"/>
            </a:br>
            <a:endParaRPr lang="ru-RU" sz="2400" dirty="0"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10840870" y="6054593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fld id="{C1FF6DA9-008F-8B48-92A6-B652298478BF}" type="slidenum">
              <a:rPr lang="en-US" b="1" smtClean="0">
                <a:latin typeface="Segoe UI" panose="020B0502040204020203" pitchFamily="34" charset="0"/>
                <a:cs typeface="Segoe UI" panose="020B0502040204020203" pitchFamily="34" charset="0"/>
              </a:rPr>
              <a:pPr/>
              <a:t>4</a:t>
            </a:fld>
            <a:r>
              <a:rPr lang="en-US" b="1" dirty="0">
                <a:latin typeface="Segoe UI" panose="020B0502040204020203" pitchFamily="34" charset="0"/>
                <a:cs typeface="Segoe UI" panose="020B0502040204020203" pitchFamily="34" charset="0"/>
              </a:rPr>
              <a:t>/2</a:t>
            </a:r>
            <a:r>
              <a:rPr lang="ru-RU" b="1" dirty="0">
                <a:latin typeface="Segoe UI" panose="020B0502040204020203" pitchFamily="34" charset="0"/>
                <a:cs typeface="Segoe UI" panose="020B0502040204020203" pitchFamily="34" charset="0"/>
              </a:rPr>
              <a:t>6</a:t>
            </a:r>
            <a:endParaRPr lang="en-US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060414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5198" y="148977"/>
            <a:ext cx="488129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rPr lang="ru-RU" sz="4000" dirty="0">
                <a:latin typeface="+mj-lt"/>
              </a:rPr>
              <a:t>Анализ аналогов</a:t>
            </a:r>
            <a:endParaRPr sz="4000" dirty="0">
              <a:latin typeface="+mj-lt"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10840870" y="6054593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fld id="{C1FF6DA9-008F-8B48-92A6-B652298478BF}" type="slidenum">
              <a:rPr lang="en-US" b="1" smtClean="0">
                <a:latin typeface="Segoe UI" panose="020B0502040204020203" pitchFamily="34" charset="0"/>
                <a:cs typeface="Segoe UI" panose="020B0502040204020203" pitchFamily="34" charset="0"/>
              </a:rPr>
              <a:pPr/>
              <a:t>5</a:t>
            </a:fld>
            <a:r>
              <a:rPr lang="en-US" b="1" dirty="0">
                <a:latin typeface="Segoe UI" panose="020B0502040204020203" pitchFamily="34" charset="0"/>
                <a:cs typeface="Segoe UI" panose="020B0502040204020203" pitchFamily="34" charset="0"/>
              </a:rPr>
              <a:t>/2</a:t>
            </a:r>
            <a:r>
              <a:rPr lang="ru-RU" b="1" dirty="0">
                <a:latin typeface="Segoe UI" panose="020B0502040204020203" pitchFamily="34" charset="0"/>
                <a:cs typeface="Segoe UI" panose="020B0502040204020203" pitchFamily="34" charset="0"/>
              </a:rPr>
              <a:t>6</a:t>
            </a:r>
            <a:endParaRPr lang="en-US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aphicFrame>
        <p:nvGraphicFramePr>
          <p:cNvPr id="8" name="Таблица 8">
            <a:extLst>
              <a:ext uri="{FF2B5EF4-FFF2-40B4-BE49-F238E27FC236}">
                <a16:creationId xmlns:a16="http://schemas.microsoft.com/office/drawing/2014/main" id="{451151F9-A6D0-4B25-9E92-074D14851B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9245780"/>
              </p:ext>
            </p:extLst>
          </p:nvPr>
        </p:nvGraphicFramePr>
        <p:xfrm>
          <a:off x="306" y="1010653"/>
          <a:ext cx="12191694" cy="3444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56059">
                  <a:extLst>
                    <a:ext uri="{9D8B030D-6E8A-4147-A177-3AD203B41FA5}">
                      <a16:colId xmlns:a16="http://schemas.microsoft.com/office/drawing/2014/main" val="2242859254"/>
                    </a:ext>
                  </a:extLst>
                </a:gridCol>
                <a:gridCol w="5293895">
                  <a:extLst>
                    <a:ext uri="{9D8B030D-6E8A-4147-A177-3AD203B41FA5}">
                      <a16:colId xmlns:a16="http://schemas.microsoft.com/office/drawing/2014/main" val="1880395534"/>
                    </a:ext>
                  </a:extLst>
                </a:gridCol>
                <a:gridCol w="4741740">
                  <a:extLst>
                    <a:ext uri="{9D8B030D-6E8A-4147-A177-3AD203B41FA5}">
                      <a16:colId xmlns:a16="http://schemas.microsoft.com/office/drawing/2014/main" val="1236565180"/>
                    </a:ext>
                  </a:extLst>
                </a:gridCol>
              </a:tblGrid>
              <a:tr h="135861">
                <a:tc>
                  <a:txBody>
                    <a:bodyPr/>
                    <a:lstStyle/>
                    <a:p>
                      <a:r>
                        <a:rPr lang="ru-RU" sz="1400" dirty="0"/>
                        <a:t>Продукт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Плюсы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Минусы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2157601"/>
                  </a:ext>
                </a:extLst>
              </a:tr>
              <a:tr h="326066">
                <a:tc>
                  <a:txBody>
                    <a:bodyPr/>
                    <a:lstStyle/>
                    <a:p>
                      <a:r>
                        <a:rPr lang="en-US" sz="14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Glean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rtl="0" fontAlgn="base">
                        <a:buFont typeface="Arial" panose="020B0604020202020204" pitchFamily="34" charset="0"/>
                        <a:buChar char="•"/>
                      </a:pPr>
                      <a:r>
                        <a:rPr lang="ru-RU" sz="14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корпоративный поиск по множеству источников</a:t>
                      </a:r>
                    </a:p>
                    <a:p>
                      <a:pPr marL="285750" indent="-285750" rtl="0" fontAlgn="base">
                        <a:buFont typeface="Arial" panose="020B0604020202020204" pitchFamily="34" charset="0"/>
                        <a:buChar char="•"/>
                      </a:pPr>
                      <a:r>
                        <a:rPr lang="ru-RU" sz="14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RAG-чат</a:t>
                      </a:r>
                    </a:p>
                    <a:p>
                      <a:pPr marL="285750" indent="-285750" rtl="0" fontAlgn="base">
                        <a:buFont typeface="Arial" panose="020B0604020202020204" pitchFamily="34" charset="0"/>
                        <a:buChar char="•"/>
                      </a:pPr>
                      <a:r>
                        <a:rPr lang="ru-RU" sz="14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цитирование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rtl="0" fontAlgn="base">
                        <a:buFont typeface="Arial" panose="020B0604020202020204" pitchFamily="34" charset="0"/>
                        <a:buChar char="•"/>
                      </a:pPr>
                      <a:r>
                        <a:rPr lang="ru-RU" sz="14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высокая стоимость при большом числе пользователей</a:t>
                      </a:r>
                    </a:p>
                    <a:p>
                      <a:pPr marL="285750" indent="-285750" rtl="0" fontAlgn="base">
                        <a:buFont typeface="Arial" panose="020B0604020202020204" pitchFamily="34" charset="0"/>
                        <a:buChar char="•"/>
                      </a:pPr>
                      <a:r>
                        <a:rPr lang="ru-RU" sz="14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зависимость от внешней инфраструктуры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27529272"/>
                  </a:ext>
                </a:extLst>
              </a:tr>
              <a:tr h="326066">
                <a:tc>
                  <a:txBody>
                    <a:bodyPr/>
                    <a:lstStyle/>
                    <a:p>
                      <a:r>
                        <a:rPr lang="it-IT" sz="14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Microsoft Copilot + Azure AI Search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rtl="0" fontAlgn="base">
                        <a:buFont typeface="Arial" panose="020B0604020202020204" pitchFamily="34" charset="0"/>
                        <a:buChar char="•"/>
                      </a:pPr>
                      <a:r>
                        <a:rPr lang="ru-RU" sz="14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интеграция с экосистемой Microsoft</a:t>
                      </a:r>
                    </a:p>
                    <a:p>
                      <a:pPr marL="285750" indent="-285750" rtl="0" fontAlgn="base">
                        <a:buFont typeface="Arial" panose="020B0604020202020204" pitchFamily="34" charset="0"/>
                        <a:buChar char="•"/>
                      </a:pPr>
                      <a:r>
                        <a:rPr lang="ru-RU" sz="14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гибридный и семантический поиск</a:t>
                      </a:r>
                    </a:p>
                    <a:p>
                      <a:pPr marL="285750" indent="-285750" rtl="0" fontAlgn="base">
                        <a:buFont typeface="Arial" panose="020B0604020202020204" pitchFamily="34" charset="0"/>
                        <a:buChar char="•"/>
                      </a:pPr>
                      <a:r>
                        <a:rPr lang="ru-RU" sz="14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учет прав доступа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rtl="0" fontAlgn="base">
                        <a:buFont typeface="Arial" panose="020B0604020202020204" pitchFamily="34" charset="0"/>
                        <a:buChar char="•"/>
                      </a:pPr>
                      <a:r>
                        <a:rPr lang="ru-RU" sz="14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стоимость лицензий Microsoft 365, </a:t>
                      </a:r>
                      <a:r>
                        <a:rPr lang="ru-RU" sz="1400" b="0" i="0" u="none" strike="noStrike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Copilot</a:t>
                      </a:r>
                      <a:r>
                        <a:rPr lang="ru-RU" sz="14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и </a:t>
                      </a:r>
                      <a:r>
                        <a:rPr lang="ru-RU" sz="1400" b="0" i="0" u="none" strike="noStrike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Azure</a:t>
                      </a:r>
                      <a:endParaRPr lang="ru-RU" sz="1400" b="0" i="0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85750" indent="-285750" rtl="0" fontAlgn="base">
                        <a:buFont typeface="Arial" panose="020B0604020202020204" pitchFamily="34" charset="0"/>
                        <a:buChar char="•"/>
                      </a:pPr>
                      <a:r>
                        <a:rPr lang="ru-RU" sz="14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привязка к облаку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59347620"/>
                  </a:ext>
                </a:extLst>
              </a:tr>
              <a:tr h="326066">
                <a:tc>
                  <a:txBody>
                    <a:bodyPr/>
                    <a:lstStyle/>
                    <a:p>
                      <a:r>
                        <a:rPr lang="en-US" sz="14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Amazon Q Business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rtl="0" fontAlgn="base">
                        <a:buFont typeface="Arial" panose="020B0604020202020204" pitchFamily="34" charset="0"/>
                        <a:buChar char="•"/>
                      </a:pPr>
                      <a:r>
                        <a:rPr lang="ru-RU" sz="14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подключение множества источников</a:t>
                      </a:r>
                    </a:p>
                    <a:p>
                      <a:pPr marL="285750" indent="-285750" rtl="0" fontAlgn="base">
                        <a:buFont typeface="Arial" panose="020B0604020202020204" pitchFamily="34" charset="0"/>
                        <a:buChar char="•"/>
                      </a:pPr>
                      <a:r>
                        <a:rPr lang="ru-RU" sz="14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гибридный поиск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rtl="0" fontAlgn="base">
                        <a:buFont typeface="Arial" panose="020B0604020202020204" pitchFamily="34" charset="0"/>
                        <a:buChar char="•"/>
                      </a:pPr>
                      <a:r>
                        <a:rPr lang="ru-RU" sz="14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подписочная модель</a:t>
                      </a:r>
                    </a:p>
                    <a:p>
                      <a:pPr marL="285750" indent="-285750" rtl="0" fontAlgn="base">
                        <a:buFont typeface="Arial" panose="020B0604020202020204" pitchFamily="34" charset="0"/>
                        <a:buChar char="•"/>
                      </a:pPr>
                      <a:r>
                        <a:rPr lang="ru-RU" sz="14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зависимость от облака Amazon</a:t>
                      </a:r>
                    </a:p>
                    <a:p>
                      <a:pPr marL="285750" indent="-285750" rtl="0" fontAlgn="base">
                        <a:buFont typeface="Arial" panose="020B0604020202020204" pitchFamily="34" charset="0"/>
                        <a:buChar char="•"/>
                      </a:pPr>
                      <a:r>
                        <a:rPr lang="ru-RU" sz="14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не специализирован под метрологию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023370"/>
                  </a:ext>
                </a:extLst>
              </a:tr>
              <a:tr h="421169">
                <a:tc>
                  <a:txBody>
                    <a:bodyPr/>
                    <a:lstStyle/>
                    <a:p>
                      <a:r>
                        <a:rPr lang="en-US" sz="1400" b="0" i="0" u="none" strike="noStrike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Vectara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rtl="0" fontAlgn="base">
                        <a:buFont typeface="Arial" panose="020B0604020202020204" pitchFamily="34" charset="0"/>
                        <a:buChar char="•"/>
                      </a:pPr>
                      <a:r>
                        <a:rPr lang="ru-RU" sz="14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быстрый запуск RAG-прототипа</a:t>
                      </a:r>
                    </a:p>
                    <a:p>
                      <a:pPr marL="285750" indent="-285750" rtl="0" fontAlgn="base">
                        <a:buFont typeface="Arial" panose="020B0604020202020204" pitchFamily="34" charset="0"/>
                        <a:buChar char="•"/>
                      </a:pPr>
                      <a:r>
                        <a:rPr lang="ru-RU" sz="14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поддержка популярных форматов</a:t>
                      </a:r>
                    </a:p>
                    <a:p>
                      <a:pPr marL="285750" indent="-285750" rtl="0" fontAlgn="base">
                        <a:buFont typeface="Arial" panose="020B0604020202020204" pitchFamily="34" charset="0"/>
                        <a:buChar char="•"/>
                      </a:pPr>
                      <a:r>
                        <a:rPr lang="ru-RU" sz="14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гибридный поиск и ответы с цитатами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rtl="0" fontAlgn="base">
                        <a:buFont typeface="Arial" panose="020B0604020202020204" pitchFamily="34" charset="0"/>
                        <a:buChar char="•"/>
                      </a:pPr>
                      <a:r>
                        <a:rPr lang="ru-RU" sz="14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облачная модель</a:t>
                      </a:r>
                    </a:p>
                    <a:p>
                      <a:pPr marL="285750" indent="-285750" rtl="0" fontAlgn="base">
                        <a:buFont typeface="Arial" panose="020B0604020202020204" pitchFamily="34" charset="0"/>
                        <a:buChar char="•"/>
                      </a:pPr>
                      <a:r>
                        <a:rPr lang="ru-RU" sz="14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ограниченная адаптация под внутренние промышленные форматы и локальные базы предприятия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4140353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1BE32012-B230-4261-A2B6-92A59D124F77}"/>
              </a:ext>
            </a:extLst>
          </p:cNvPr>
          <p:cNvSpPr txBox="1"/>
          <p:nvPr/>
        </p:nvSpPr>
        <p:spPr>
          <a:xfrm>
            <a:off x="406400" y="5003800"/>
            <a:ext cx="97626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Вывод: необходима собственная реализация </a:t>
            </a:r>
            <a:r>
              <a:rPr lang="en-US" dirty="0"/>
              <a:t>RAG-</a:t>
            </a:r>
            <a:r>
              <a:rPr lang="ru-RU" dirty="0"/>
              <a:t>системы под нужды предприятия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1558A9B-BB01-4200-8E25-2A0ABF2B739C}"/>
              </a:ext>
            </a:extLst>
          </p:cNvPr>
          <p:cNvSpPr txBox="1"/>
          <p:nvPr/>
        </p:nvSpPr>
        <p:spPr>
          <a:xfrm>
            <a:off x="347133" y="5664200"/>
            <a:ext cx="113880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Главные условия: ориентированность на метрологию, независимость от внешних инфраструктур</a:t>
            </a:r>
          </a:p>
        </p:txBody>
      </p:sp>
    </p:spTree>
    <p:extLst>
      <p:ext uri="{BB962C8B-B14F-4D97-AF65-F5344CB8AC3E}">
        <p14:creationId xmlns:p14="http://schemas.microsoft.com/office/powerpoint/2010/main" val="27744410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496381" y="148977"/>
            <a:ext cx="5198931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rPr lang="ru-RU" sz="4000" dirty="0">
                <a:latin typeface="+mj-lt"/>
              </a:rPr>
              <a:t>Выбор технологий</a:t>
            </a:r>
            <a:endParaRPr sz="4000" dirty="0">
              <a:latin typeface="+mj-lt"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10840870" y="6054593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fld id="{C1FF6DA9-008F-8B48-92A6-B652298478BF}" type="slidenum">
              <a:rPr lang="en-US" b="1" smtClean="0">
                <a:latin typeface="Segoe UI" panose="020B0502040204020203" pitchFamily="34" charset="0"/>
                <a:cs typeface="Segoe UI" panose="020B0502040204020203" pitchFamily="34" charset="0"/>
              </a:rPr>
              <a:pPr/>
              <a:t>6</a:t>
            </a:fld>
            <a:r>
              <a:rPr lang="en-US" b="1" dirty="0">
                <a:latin typeface="Segoe UI" panose="020B0502040204020203" pitchFamily="34" charset="0"/>
                <a:cs typeface="Segoe UI" panose="020B0502040204020203" pitchFamily="34" charset="0"/>
              </a:rPr>
              <a:t>/2</a:t>
            </a:r>
            <a:r>
              <a:rPr lang="ru-RU" b="1" dirty="0">
                <a:latin typeface="Segoe UI" panose="020B0502040204020203" pitchFamily="34" charset="0"/>
                <a:cs typeface="Segoe UI" panose="020B0502040204020203" pitchFamily="34" charset="0"/>
              </a:rPr>
              <a:t>6</a:t>
            </a:r>
            <a:endParaRPr lang="en-US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aphicFrame>
        <p:nvGraphicFramePr>
          <p:cNvPr id="12" name="Таблица 4">
            <a:extLst>
              <a:ext uri="{FF2B5EF4-FFF2-40B4-BE49-F238E27FC236}">
                <a16:creationId xmlns:a16="http://schemas.microsoft.com/office/drawing/2014/main" id="{7D9E1410-A233-4716-B33D-E651DB5EAE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0734213"/>
              </p:ext>
            </p:extLst>
          </p:nvPr>
        </p:nvGraphicFramePr>
        <p:xfrm>
          <a:off x="7714075" y="3456746"/>
          <a:ext cx="1452346" cy="1010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2346">
                  <a:extLst>
                    <a:ext uri="{9D8B030D-6E8A-4147-A177-3AD203B41FA5}">
                      <a16:colId xmlns:a16="http://schemas.microsoft.com/office/drawing/2014/main" val="283012498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База данных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058658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MSSQL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279496"/>
                  </a:ext>
                </a:extLst>
              </a:tr>
            </a:tbl>
          </a:graphicData>
        </a:graphic>
      </p:graphicFrame>
      <p:graphicFrame>
        <p:nvGraphicFramePr>
          <p:cNvPr id="14" name="Таблица 4">
            <a:extLst>
              <a:ext uri="{FF2B5EF4-FFF2-40B4-BE49-F238E27FC236}">
                <a16:creationId xmlns:a16="http://schemas.microsoft.com/office/drawing/2014/main" id="{F8E641AB-A8EC-4FB2-B20D-172A1090CA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7129893"/>
              </p:ext>
            </p:extLst>
          </p:nvPr>
        </p:nvGraphicFramePr>
        <p:xfrm>
          <a:off x="2954875" y="2808303"/>
          <a:ext cx="1968456" cy="12894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8456">
                  <a:extLst>
                    <a:ext uri="{9D8B030D-6E8A-4147-A177-3AD203B41FA5}">
                      <a16:colId xmlns:a16="http://schemas.microsoft.com/office/drawing/2014/main" val="2830124982"/>
                    </a:ext>
                  </a:extLst>
                </a:gridCol>
              </a:tblGrid>
              <a:tr h="816432">
                <a:tc>
                  <a:txBody>
                    <a:bodyPr/>
                    <a:lstStyle/>
                    <a:p>
                      <a:r>
                        <a:rPr lang="ru-RU" dirty="0"/>
                        <a:t>Клиентская часть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05865819"/>
                  </a:ext>
                </a:extLst>
              </a:tr>
              <a:tr h="473012">
                <a:tc>
                  <a:txBody>
                    <a:bodyPr/>
                    <a:lstStyle/>
                    <a:p>
                      <a:r>
                        <a:rPr lang="en-US" dirty="0"/>
                        <a:t>React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279496"/>
                  </a:ext>
                </a:extLst>
              </a:tr>
            </a:tbl>
          </a:graphicData>
        </a:graphic>
      </p:graphicFrame>
      <p:graphicFrame>
        <p:nvGraphicFramePr>
          <p:cNvPr id="15" name="Таблица 4">
            <a:extLst>
              <a:ext uri="{FF2B5EF4-FFF2-40B4-BE49-F238E27FC236}">
                <a16:creationId xmlns:a16="http://schemas.microsoft.com/office/drawing/2014/main" id="{4822286A-567E-4D22-AD07-E2F991ADDA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8613106"/>
              </p:ext>
            </p:extLst>
          </p:nvPr>
        </p:nvGraphicFramePr>
        <p:xfrm>
          <a:off x="520676" y="1391328"/>
          <a:ext cx="1874057" cy="1010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057">
                  <a:extLst>
                    <a:ext uri="{9D8B030D-6E8A-4147-A177-3AD203B41FA5}">
                      <a16:colId xmlns:a16="http://schemas.microsoft.com/office/drawing/2014/main" val="2830124982"/>
                    </a:ext>
                  </a:extLst>
                </a:gridCol>
              </a:tblGrid>
              <a:tr h="299185">
                <a:tc>
                  <a:txBody>
                    <a:bodyPr/>
                    <a:lstStyle/>
                    <a:p>
                      <a:r>
                        <a:rPr lang="ru-RU" dirty="0"/>
                        <a:t>Серверная часть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058658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Python</a:t>
                      </a:r>
                      <a:r>
                        <a:rPr lang="ru-RU" dirty="0"/>
                        <a:t> + </a:t>
                      </a:r>
                      <a:r>
                        <a:rPr lang="en-US" dirty="0"/>
                        <a:t>Flask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279496"/>
                  </a:ext>
                </a:extLst>
              </a:tr>
            </a:tbl>
          </a:graphicData>
        </a:graphic>
      </p:graphicFrame>
      <p:graphicFrame>
        <p:nvGraphicFramePr>
          <p:cNvPr id="19" name="Таблица 15">
            <a:extLst>
              <a:ext uri="{FF2B5EF4-FFF2-40B4-BE49-F238E27FC236}">
                <a16:creationId xmlns:a16="http://schemas.microsoft.com/office/drawing/2014/main" id="{F5345D0C-6C62-4FF7-9750-00A7235979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3160503"/>
              </p:ext>
            </p:extLst>
          </p:nvPr>
        </p:nvGraphicFramePr>
        <p:xfrm>
          <a:off x="10002974" y="1239131"/>
          <a:ext cx="1756609" cy="128524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756609">
                  <a:extLst>
                    <a:ext uri="{9D8B030D-6E8A-4147-A177-3AD203B41FA5}">
                      <a16:colId xmlns:a16="http://schemas.microsoft.com/office/drawing/2014/main" val="66402611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Развертывание приложения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80673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Docker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254698"/>
                  </a:ext>
                </a:extLst>
              </a:tr>
            </a:tbl>
          </a:graphicData>
        </a:graphic>
      </p:graphicFrame>
      <p:pic>
        <p:nvPicPr>
          <p:cNvPr id="1042" name="Picture 18" descr="Logo device only">
            <a:extLst>
              <a:ext uri="{FF2B5EF4-FFF2-40B4-BE49-F238E27FC236}">
                <a16:creationId xmlns:a16="http://schemas.microsoft.com/office/drawing/2014/main" id="{2D6A2490-736C-4856-ACC8-12093DFE54E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2583"/>
          <a:stretch/>
        </p:blipFill>
        <p:spPr bwMode="auto">
          <a:xfrm>
            <a:off x="924625" y="2808303"/>
            <a:ext cx="1066158" cy="11294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BDE81565-26A2-472E-928B-D074AF2CC3C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3301" r="62603" b="13486"/>
          <a:stretch/>
        </p:blipFill>
        <p:spPr>
          <a:xfrm>
            <a:off x="3212930" y="4270761"/>
            <a:ext cx="1452346" cy="1338340"/>
          </a:xfrm>
          <a:prstGeom prst="rect">
            <a:avLst/>
          </a:prstGeom>
        </p:spPr>
      </p:pic>
      <p:pic>
        <p:nvPicPr>
          <p:cNvPr id="32" name="Рисунок 31">
            <a:extLst>
              <a:ext uri="{FF2B5EF4-FFF2-40B4-BE49-F238E27FC236}">
                <a16:creationId xmlns:a16="http://schemas.microsoft.com/office/drawing/2014/main" id="{CBA66F92-6B4D-489B-9FE2-559DE05B77ED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76054"/>
          <a:stretch/>
        </p:blipFill>
        <p:spPr>
          <a:xfrm>
            <a:off x="5787431" y="2679979"/>
            <a:ext cx="1066158" cy="1185211"/>
          </a:xfrm>
          <a:prstGeom prst="rect">
            <a:avLst/>
          </a:prstGeom>
        </p:spPr>
      </p:pic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08C8538A-2819-4023-9065-E1BA0E4D79BF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r="22397"/>
          <a:stretch/>
        </p:blipFill>
        <p:spPr>
          <a:xfrm>
            <a:off x="7222489" y="4610649"/>
            <a:ext cx="2435517" cy="1005840"/>
          </a:xfrm>
          <a:prstGeom prst="rect">
            <a:avLst/>
          </a:prstGeom>
        </p:spPr>
      </p:pic>
      <p:pic>
        <p:nvPicPr>
          <p:cNvPr id="36" name="Рисунок 35">
            <a:extLst>
              <a:ext uri="{FF2B5EF4-FFF2-40B4-BE49-F238E27FC236}">
                <a16:creationId xmlns:a16="http://schemas.microsoft.com/office/drawing/2014/main" id="{0B4F6805-96D8-4434-996B-46293774AF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91232" y="2808303"/>
            <a:ext cx="1580092" cy="1310261"/>
          </a:xfrm>
          <a:prstGeom prst="rect">
            <a:avLst/>
          </a:prstGeom>
        </p:spPr>
      </p:pic>
      <p:graphicFrame>
        <p:nvGraphicFramePr>
          <p:cNvPr id="53" name="Таблица 15">
            <a:extLst>
              <a:ext uri="{FF2B5EF4-FFF2-40B4-BE49-F238E27FC236}">
                <a16:creationId xmlns:a16="http://schemas.microsoft.com/office/drawing/2014/main" id="{5FFC6CC7-F53D-4AB7-BD48-6ADF5CF30B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1352759"/>
              </p:ext>
            </p:extLst>
          </p:nvPr>
        </p:nvGraphicFramePr>
        <p:xfrm>
          <a:off x="5442206" y="1412243"/>
          <a:ext cx="1756609" cy="101092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756609">
                  <a:extLst>
                    <a:ext uri="{9D8B030D-6E8A-4147-A177-3AD203B41FA5}">
                      <a16:colId xmlns:a16="http://schemas.microsoft.com/office/drawing/2014/main" val="66402611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Векторное хранилище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80673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Qdrant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254698"/>
                  </a:ext>
                </a:extLst>
              </a:tr>
            </a:tbl>
          </a:graphicData>
        </a:graphic>
      </p:graphicFrame>
      <p:sp>
        <p:nvSpPr>
          <p:cNvPr id="37" name="TextBox 36">
            <a:extLst>
              <a:ext uri="{FF2B5EF4-FFF2-40B4-BE49-F238E27FC236}">
                <a16:creationId xmlns:a16="http://schemas.microsoft.com/office/drawing/2014/main" id="{977CE9D0-C080-480A-8A20-4DA8CD37B6AF}"/>
              </a:ext>
            </a:extLst>
          </p:cNvPr>
          <p:cNvSpPr txBox="1"/>
          <p:nvPr/>
        </p:nvSpPr>
        <p:spPr>
          <a:xfrm>
            <a:off x="682328" y="6027201"/>
            <a:ext cx="49616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Добавить микро причину выбора ко всем</a:t>
            </a:r>
          </a:p>
        </p:txBody>
      </p:sp>
    </p:spTree>
    <p:extLst>
      <p:ext uri="{BB962C8B-B14F-4D97-AF65-F5344CB8AC3E}">
        <p14:creationId xmlns:p14="http://schemas.microsoft.com/office/powerpoint/2010/main" val="38648644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981663" y="148977"/>
            <a:ext cx="622836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rPr lang="ru-RU" sz="4000" dirty="0">
                <a:latin typeface="+mj-lt"/>
              </a:rPr>
              <a:t>Архитектура системы</a:t>
            </a:r>
            <a:endParaRPr sz="4000" dirty="0">
              <a:latin typeface="+mj-lt"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10840870" y="6054593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fld id="{C1FF6DA9-008F-8B48-92A6-B652298478BF}" type="slidenum">
              <a:rPr lang="en-US" b="1" smtClean="0">
                <a:latin typeface="Segoe UI" panose="020B0502040204020203" pitchFamily="34" charset="0"/>
                <a:cs typeface="Segoe UI" panose="020B0502040204020203" pitchFamily="34" charset="0"/>
              </a:rPr>
              <a:pPr/>
              <a:t>7</a:t>
            </a:fld>
            <a:r>
              <a:rPr lang="en-US" b="1" dirty="0">
                <a:latin typeface="Segoe UI" panose="020B0502040204020203" pitchFamily="34" charset="0"/>
                <a:cs typeface="Segoe UI" panose="020B0502040204020203" pitchFamily="34" charset="0"/>
              </a:rPr>
              <a:t>/2</a:t>
            </a:r>
            <a:r>
              <a:rPr lang="ru-RU" b="1" dirty="0">
                <a:latin typeface="Segoe UI" panose="020B0502040204020203" pitchFamily="34" charset="0"/>
                <a:cs typeface="Segoe UI" panose="020B0502040204020203" pitchFamily="34" charset="0"/>
              </a:rPr>
              <a:t>6</a:t>
            </a:r>
            <a:endParaRPr lang="en-US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1" name="image8.png">
            <a:extLst>
              <a:ext uri="{FF2B5EF4-FFF2-40B4-BE49-F238E27FC236}">
                <a16:creationId xmlns:a16="http://schemas.microsoft.com/office/drawing/2014/main" id="{EF064122-46E5-4D5E-B04A-75E8CFB6D77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455175" y="1491531"/>
            <a:ext cx="9281344" cy="4613371"/>
          </a:xfrm>
          <a:prstGeom prst="rect">
            <a:avLst/>
          </a:prstGeom>
          <a:ln/>
        </p:spPr>
      </p:pic>
    </p:spTree>
    <p:extLst>
      <p:ext uri="{BB962C8B-B14F-4D97-AF65-F5344CB8AC3E}">
        <p14:creationId xmlns:p14="http://schemas.microsoft.com/office/powerpoint/2010/main" val="10389540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667780" y="148977"/>
            <a:ext cx="8856133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rPr lang="ru-RU" sz="4000" dirty="0">
                <a:latin typeface="+mj-lt"/>
              </a:rPr>
              <a:t>Схемы работы модуля загрузки</a:t>
            </a:r>
            <a:endParaRPr sz="4000" dirty="0">
              <a:latin typeface="+mj-lt"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10840870" y="6054593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fld id="{C1FF6DA9-008F-8B48-92A6-B652298478BF}" type="slidenum">
              <a:rPr lang="en-US" b="1" smtClean="0">
                <a:latin typeface="Segoe UI" panose="020B0502040204020203" pitchFamily="34" charset="0"/>
                <a:cs typeface="Segoe UI" panose="020B0502040204020203" pitchFamily="34" charset="0"/>
              </a:rPr>
              <a:pPr/>
              <a:t>8</a:t>
            </a:fld>
            <a:r>
              <a:rPr lang="en-US" b="1" dirty="0">
                <a:latin typeface="Segoe UI" panose="020B0502040204020203" pitchFamily="34" charset="0"/>
                <a:cs typeface="Segoe UI" panose="020B0502040204020203" pitchFamily="34" charset="0"/>
              </a:rPr>
              <a:t>/2</a:t>
            </a:r>
            <a:r>
              <a:rPr lang="ru-RU" b="1" dirty="0">
                <a:latin typeface="Segoe UI" panose="020B0502040204020203" pitchFamily="34" charset="0"/>
                <a:cs typeface="Segoe UI" panose="020B0502040204020203" pitchFamily="34" charset="0"/>
              </a:rPr>
              <a:t>6</a:t>
            </a:r>
            <a:endParaRPr lang="en-US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63EBEEB-9CED-40A2-9DA6-2CA799BC98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9475" y="1027702"/>
            <a:ext cx="5132742" cy="5681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54692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667780" y="148977"/>
            <a:ext cx="8856133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rPr lang="ru-RU" sz="4000" dirty="0">
                <a:latin typeface="+mj-lt"/>
              </a:rPr>
              <a:t>Схемы работы модуля загрузки</a:t>
            </a:r>
            <a:endParaRPr sz="4000" dirty="0">
              <a:latin typeface="+mj-lt"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10840870" y="6054593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fld id="{C1FF6DA9-008F-8B48-92A6-B652298478BF}" type="slidenum">
              <a:rPr lang="en-US" b="1" smtClean="0">
                <a:latin typeface="Segoe UI" panose="020B0502040204020203" pitchFamily="34" charset="0"/>
                <a:cs typeface="Segoe UI" panose="020B0502040204020203" pitchFamily="34" charset="0"/>
              </a:rPr>
              <a:pPr/>
              <a:t>9</a:t>
            </a:fld>
            <a:r>
              <a:rPr lang="en-US" b="1" dirty="0">
                <a:latin typeface="Segoe UI" panose="020B0502040204020203" pitchFamily="34" charset="0"/>
                <a:cs typeface="Segoe UI" panose="020B0502040204020203" pitchFamily="34" charset="0"/>
              </a:rPr>
              <a:t>/2</a:t>
            </a:r>
            <a:r>
              <a:rPr lang="ru-RU" b="1" dirty="0">
                <a:latin typeface="Segoe UI" panose="020B0502040204020203" pitchFamily="34" charset="0"/>
                <a:cs typeface="Segoe UI" panose="020B0502040204020203" pitchFamily="34" charset="0"/>
              </a:rPr>
              <a:t>6</a:t>
            </a:r>
            <a:endParaRPr lang="en-US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6" name="image2.png">
            <a:extLst>
              <a:ext uri="{FF2B5EF4-FFF2-40B4-BE49-F238E27FC236}">
                <a16:creationId xmlns:a16="http://schemas.microsoft.com/office/drawing/2014/main" id="{FD0EA8B6-E0E7-4B73-852A-0192AB2EF4D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956570" y="1835283"/>
            <a:ext cx="10278860" cy="3448987"/>
          </a:xfrm>
          <a:prstGeom prst="rect">
            <a:avLst/>
          </a:prstGeom>
          <a:ln/>
        </p:spPr>
      </p:pic>
    </p:spTree>
    <p:extLst>
      <p:ext uri="{BB962C8B-B14F-4D97-AF65-F5344CB8AC3E}">
        <p14:creationId xmlns:p14="http://schemas.microsoft.com/office/powerpoint/2010/main" val="10233967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Прямоугольник 6"/>
          <p:cNvSpPr/>
          <p:nvPr/>
        </p:nvSpPr>
        <p:spPr>
          <a:xfrm>
            <a:off x="10840870" y="6054593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fld id="{C1FF6DA9-008F-8B48-92A6-B652298478BF}" type="slidenum">
              <a:rPr lang="en-US" b="1" smtClean="0">
                <a:latin typeface="Segoe UI" panose="020B0502040204020203" pitchFamily="34" charset="0"/>
                <a:cs typeface="Segoe UI" panose="020B0502040204020203" pitchFamily="34" charset="0"/>
              </a:rPr>
              <a:pPr/>
              <a:t>10</a:t>
            </a:fld>
            <a:r>
              <a:rPr lang="en-US" b="1" dirty="0">
                <a:latin typeface="Segoe UI" panose="020B0502040204020203" pitchFamily="34" charset="0"/>
                <a:cs typeface="Segoe UI" panose="020B0502040204020203" pitchFamily="34" charset="0"/>
              </a:rPr>
              <a:t>/2</a:t>
            </a:r>
            <a:r>
              <a:rPr lang="ru-RU" b="1" dirty="0">
                <a:latin typeface="Segoe UI" panose="020B0502040204020203" pitchFamily="34" charset="0"/>
                <a:cs typeface="Segoe UI" panose="020B0502040204020203" pitchFamily="34" charset="0"/>
              </a:rPr>
              <a:t>6</a:t>
            </a:r>
            <a:endParaRPr lang="en-US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5" name="image4.png">
            <a:extLst>
              <a:ext uri="{FF2B5EF4-FFF2-40B4-BE49-F238E27FC236}">
                <a16:creationId xmlns:a16="http://schemas.microsoft.com/office/drawing/2014/main" id="{E3722F77-2DF4-4C34-AE9A-8342C7A896B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213734" y="1745014"/>
            <a:ext cx="9627136" cy="3570404"/>
          </a:xfrm>
          <a:prstGeom prst="rect">
            <a:avLst/>
          </a:prstGeom>
          <a:ln/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4290782-BAD6-41AF-8B14-CDAB851494A7}"/>
              </a:ext>
            </a:extLst>
          </p:cNvPr>
          <p:cNvSpPr txBox="1"/>
          <p:nvPr/>
        </p:nvSpPr>
        <p:spPr>
          <a:xfrm>
            <a:off x="1667780" y="148977"/>
            <a:ext cx="8856133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rPr lang="ru-RU" sz="4000" dirty="0">
                <a:latin typeface="+mj-lt"/>
              </a:rPr>
              <a:t>Схемы работы модуля загрузки</a:t>
            </a:r>
            <a:endParaRPr sz="40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0089989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Прямоугольник 6"/>
          <p:cNvSpPr/>
          <p:nvPr/>
        </p:nvSpPr>
        <p:spPr>
          <a:xfrm>
            <a:off x="10840870" y="6054593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fld id="{C1FF6DA9-008F-8B48-92A6-B652298478BF}" type="slidenum">
              <a:rPr lang="en-US" b="1" smtClean="0">
                <a:latin typeface="Segoe UI" panose="020B0502040204020203" pitchFamily="34" charset="0"/>
                <a:cs typeface="Segoe UI" panose="020B0502040204020203" pitchFamily="34" charset="0"/>
              </a:rPr>
              <a:pPr/>
              <a:t>11</a:t>
            </a:fld>
            <a:r>
              <a:rPr lang="en-US" b="1" dirty="0">
                <a:latin typeface="Segoe UI" panose="020B0502040204020203" pitchFamily="34" charset="0"/>
                <a:cs typeface="Segoe UI" panose="020B0502040204020203" pitchFamily="34" charset="0"/>
              </a:rPr>
              <a:t>/2</a:t>
            </a:r>
            <a:r>
              <a:rPr lang="ru-RU" b="1" dirty="0">
                <a:latin typeface="Segoe UI" panose="020B0502040204020203" pitchFamily="34" charset="0"/>
                <a:cs typeface="Segoe UI" panose="020B0502040204020203" pitchFamily="34" charset="0"/>
              </a:rPr>
              <a:t>6</a:t>
            </a:r>
            <a:endParaRPr lang="en-US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5" name="image9.png">
            <a:extLst>
              <a:ext uri="{FF2B5EF4-FFF2-40B4-BE49-F238E27FC236}">
                <a16:creationId xmlns:a16="http://schemas.microsoft.com/office/drawing/2014/main" id="{45730E13-1CF9-49E5-8B43-0D5C9915152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827763" y="1605473"/>
            <a:ext cx="8536474" cy="4237062"/>
          </a:xfrm>
          <a:prstGeom prst="rect">
            <a:avLst/>
          </a:prstGeom>
          <a:ln/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451AFBA-8748-444B-A852-9B063767FCF9}"/>
              </a:ext>
            </a:extLst>
          </p:cNvPr>
          <p:cNvSpPr txBox="1"/>
          <p:nvPr/>
        </p:nvSpPr>
        <p:spPr>
          <a:xfrm>
            <a:off x="1667780" y="148977"/>
            <a:ext cx="8856133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rPr lang="ru-RU" sz="4000" dirty="0">
                <a:latin typeface="+mj-lt"/>
              </a:rPr>
              <a:t>Схемы работы модуля загрузки</a:t>
            </a:r>
            <a:endParaRPr sz="40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7426947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Прямоугольник 6"/>
          <p:cNvSpPr/>
          <p:nvPr/>
        </p:nvSpPr>
        <p:spPr>
          <a:xfrm>
            <a:off x="10840870" y="6054593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fld id="{C1FF6DA9-008F-8B48-92A6-B652298478BF}" type="slidenum">
              <a:rPr lang="en-US" b="1" smtClean="0">
                <a:latin typeface="Segoe UI" panose="020B0502040204020203" pitchFamily="34" charset="0"/>
                <a:cs typeface="Segoe UI" panose="020B0502040204020203" pitchFamily="34" charset="0"/>
              </a:rPr>
              <a:pPr/>
              <a:t>12</a:t>
            </a:fld>
            <a:r>
              <a:rPr lang="en-US" b="1" dirty="0">
                <a:latin typeface="Segoe UI" panose="020B0502040204020203" pitchFamily="34" charset="0"/>
                <a:cs typeface="Segoe UI" panose="020B0502040204020203" pitchFamily="34" charset="0"/>
              </a:rPr>
              <a:t>/2</a:t>
            </a:r>
            <a:r>
              <a:rPr lang="ru-RU" b="1" dirty="0">
                <a:latin typeface="Segoe UI" panose="020B0502040204020203" pitchFamily="34" charset="0"/>
                <a:cs typeface="Segoe UI" panose="020B0502040204020203" pitchFamily="34" charset="0"/>
              </a:rPr>
              <a:t>6</a:t>
            </a:r>
            <a:endParaRPr lang="en-US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451AFBA-8748-444B-A852-9B063767FCF9}"/>
              </a:ext>
            </a:extLst>
          </p:cNvPr>
          <p:cNvSpPr txBox="1"/>
          <p:nvPr/>
        </p:nvSpPr>
        <p:spPr>
          <a:xfrm>
            <a:off x="1227437" y="148977"/>
            <a:ext cx="973682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rPr lang="ru-RU" sz="4000" dirty="0">
                <a:latin typeface="+mj-lt"/>
              </a:rPr>
              <a:t>Схемы работы клиентского модуля</a:t>
            </a:r>
            <a:endParaRPr sz="4000" dirty="0">
              <a:latin typeface="+mj-lt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B6C0217-488A-4179-B3BF-12FBE5D08E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6289" y="1154817"/>
            <a:ext cx="5561719" cy="5439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76310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981981" y="148977"/>
            <a:ext cx="880711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rPr lang="ru-RU" sz="4000" dirty="0">
                <a:latin typeface="+mj-lt"/>
              </a:rPr>
              <a:t>Основной функционал системы</a:t>
            </a:r>
            <a:endParaRPr sz="4000" dirty="0">
              <a:latin typeface="+mj-lt"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10840870" y="6054593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fld id="{C1FF6DA9-008F-8B48-92A6-B652298478BF}" type="slidenum">
              <a:rPr lang="en-US" b="1" smtClean="0">
                <a:latin typeface="Segoe UI" panose="020B0502040204020203" pitchFamily="34" charset="0"/>
                <a:cs typeface="Segoe UI" panose="020B0502040204020203" pitchFamily="34" charset="0"/>
              </a:rPr>
              <a:pPr/>
              <a:t>13</a:t>
            </a:fld>
            <a:r>
              <a:rPr lang="en-US" b="1" dirty="0">
                <a:latin typeface="Segoe UI" panose="020B0502040204020203" pitchFamily="34" charset="0"/>
                <a:cs typeface="Segoe UI" panose="020B0502040204020203" pitchFamily="34" charset="0"/>
              </a:rPr>
              <a:t>/2</a:t>
            </a:r>
            <a:r>
              <a:rPr lang="ru-RU" b="1" dirty="0">
                <a:latin typeface="Segoe UI" panose="020B0502040204020203" pitchFamily="34" charset="0"/>
                <a:cs typeface="Segoe UI" panose="020B0502040204020203" pitchFamily="34" charset="0"/>
              </a:rPr>
              <a:t>6</a:t>
            </a:r>
            <a:endParaRPr lang="en-US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BD2DC0D-83F0-4C36-9CA7-C600A9C79A63}"/>
              </a:ext>
            </a:extLst>
          </p:cNvPr>
          <p:cNvSpPr txBox="1"/>
          <p:nvPr/>
        </p:nvSpPr>
        <p:spPr>
          <a:xfrm>
            <a:off x="2263708" y="2551837"/>
            <a:ext cx="766427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Произведение параметрического поиска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Возможность выбора режима работы прибора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Возможность указания погрешности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Возможность выбора нескольких физических величин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Выдача дополнительных сведений о приборе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Выдача </a:t>
            </a:r>
            <a:r>
              <a:rPr lang="en-US" dirty="0"/>
              <a:t>PDF-</a:t>
            </a:r>
            <a:r>
              <a:rPr lang="ru-RU" dirty="0"/>
              <a:t>документа соответствующего средства измерения</a:t>
            </a:r>
          </a:p>
        </p:txBody>
      </p:sp>
    </p:spTree>
    <p:extLst>
      <p:ext uri="{BB962C8B-B14F-4D97-AF65-F5344CB8AC3E}">
        <p14:creationId xmlns:p14="http://schemas.microsoft.com/office/powerpoint/2010/main" val="1991494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981981" y="148977"/>
            <a:ext cx="880711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rPr lang="ru-RU" sz="4000" dirty="0">
                <a:latin typeface="+mj-lt"/>
              </a:rPr>
              <a:t>Основной функционал системы</a:t>
            </a:r>
            <a:endParaRPr sz="4000" dirty="0">
              <a:latin typeface="+mj-lt"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10840870" y="6054593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fld id="{C1FF6DA9-008F-8B48-92A6-B652298478BF}" type="slidenum">
              <a:rPr lang="en-US" b="1" smtClean="0">
                <a:latin typeface="Segoe UI" panose="020B0502040204020203" pitchFamily="34" charset="0"/>
                <a:cs typeface="Segoe UI" panose="020B0502040204020203" pitchFamily="34" charset="0"/>
              </a:rPr>
              <a:pPr/>
              <a:t>14</a:t>
            </a:fld>
            <a:r>
              <a:rPr lang="en-US" b="1" dirty="0">
                <a:latin typeface="Segoe UI" panose="020B0502040204020203" pitchFamily="34" charset="0"/>
                <a:cs typeface="Segoe UI" panose="020B0502040204020203" pitchFamily="34" charset="0"/>
              </a:rPr>
              <a:t>/2</a:t>
            </a:r>
            <a:r>
              <a:rPr lang="ru-RU" b="1" dirty="0">
                <a:latin typeface="Segoe UI" panose="020B0502040204020203" pitchFamily="34" charset="0"/>
                <a:cs typeface="Segoe UI" panose="020B0502040204020203" pitchFamily="34" charset="0"/>
              </a:rPr>
              <a:t>6</a:t>
            </a:r>
            <a:endParaRPr lang="en-US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E7928D43-E2E8-48B1-8558-45848B9935F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4888" r="15685" b="45223"/>
          <a:stretch/>
        </p:blipFill>
        <p:spPr>
          <a:xfrm>
            <a:off x="1201678" y="1438611"/>
            <a:ext cx="9788338" cy="4344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92564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981981" y="148977"/>
            <a:ext cx="880711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rPr lang="ru-RU" sz="4000" dirty="0">
                <a:latin typeface="+mj-lt"/>
              </a:rPr>
              <a:t>Основной функционал системы</a:t>
            </a:r>
            <a:endParaRPr sz="4000" dirty="0">
              <a:latin typeface="+mj-lt"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10840870" y="6054593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fld id="{C1FF6DA9-008F-8B48-92A6-B652298478BF}" type="slidenum">
              <a:rPr lang="en-US" b="1" smtClean="0">
                <a:latin typeface="Segoe UI" panose="020B0502040204020203" pitchFamily="34" charset="0"/>
                <a:cs typeface="Segoe UI" panose="020B0502040204020203" pitchFamily="34" charset="0"/>
              </a:rPr>
              <a:pPr/>
              <a:t>15</a:t>
            </a:fld>
            <a:r>
              <a:rPr lang="en-US" b="1" dirty="0">
                <a:latin typeface="Segoe UI" panose="020B0502040204020203" pitchFamily="34" charset="0"/>
                <a:cs typeface="Segoe UI" panose="020B0502040204020203" pitchFamily="34" charset="0"/>
              </a:rPr>
              <a:t>/2</a:t>
            </a:r>
            <a:r>
              <a:rPr lang="ru-RU" b="1" dirty="0">
                <a:latin typeface="Segoe UI" panose="020B0502040204020203" pitchFamily="34" charset="0"/>
                <a:cs typeface="Segoe UI" panose="020B0502040204020203" pitchFamily="34" charset="0"/>
              </a:rPr>
              <a:t>6</a:t>
            </a:r>
            <a:endParaRPr lang="en-US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C8E148AE-54B5-497B-B844-EA98F30191B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4751" r="15447" b="45337"/>
          <a:stretch/>
        </p:blipFill>
        <p:spPr>
          <a:xfrm>
            <a:off x="1119908" y="1439333"/>
            <a:ext cx="9952184" cy="4383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02461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981981" y="148977"/>
            <a:ext cx="880711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rPr lang="ru-RU" sz="4000" dirty="0">
                <a:latin typeface="+mj-lt"/>
              </a:rPr>
              <a:t>Основной функционал системы</a:t>
            </a:r>
            <a:endParaRPr sz="4000" dirty="0">
              <a:latin typeface="+mj-lt"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10840870" y="6054593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fld id="{C1FF6DA9-008F-8B48-92A6-B652298478BF}" type="slidenum">
              <a:rPr lang="en-US" b="1" smtClean="0">
                <a:latin typeface="Segoe UI" panose="020B0502040204020203" pitchFamily="34" charset="0"/>
                <a:cs typeface="Segoe UI" panose="020B0502040204020203" pitchFamily="34" charset="0"/>
              </a:rPr>
              <a:pPr/>
              <a:t>16</a:t>
            </a:fld>
            <a:r>
              <a:rPr lang="en-US" b="1" dirty="0">
                <a:latin typeface="Segoe UI" panose="020B0502040204020203" pitchFamily="34" charset="0"/>
                <a:cs typeface="Segoe UI" panose="020B0502040204020203" pitchFamily="34" charset="0"/>
              </a:rPr>
              <a:t>/2</a:t>
            </a:r>
            <a:r>
              <a:rPr lang="ru-RU" b="1" dirty="0">
                <a:latin typeface="Segoe UI" panose="020B0502040204020203" pitchFamily="34" charset="0"/>
                <a:cs typeface="Segoe UI" panose="020B0502040204020203" pitchFamily="34" charset="0"/>
              </a:rPr>
              <a:t>6</a:t>
            </a:r>
            <a:endParaRPr lang="en-US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536DD314-EF90-44EF-B444-FBAAF34B931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3395" t="20333" r="1289" b="33723"/>
          <a:stretch/>
        </p:blipFill>
        <p:spPr>
          <a:xfrm>
            <a:off x="1714615" y="1642533"/>
            <a:ext cx="9006868" cy="4207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98705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981981" y="148977"/>
            <a:ext cx="880711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rPr lang="ru-RU" sz="4000" dirty="0">
                <a:latin typeface="+mj-lt"/>
              </a:rPr>
              <a:t>Основной функционал системы</a:t>
            </a:r>
            <a:endParaRPr sz="4000" dirty="0">
              <a:latin typeface="+mj-lt"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10840870" y="6054593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fld id="{C1FF6DA9-008F-8B48-92A6-B652298478BF}" type="slidenum">
              <a:rPr lang="en-US" b="1" smtClean="0">
                <a:latin typeface="Segoe UI" panose="020B0502040204020203" pitchFamily="34" charset="0"/>
                <a:cs typeface="Segoe UI" panose="020B0502040204020203" pitchFamily="34" charset="0"/>
              </a:rPr>
              <a:pPr/>
              <a:t>17</a:t>
            </a:fld>
            <a:r>
              <a:rPr lang="en-US" b="1" dirty="0">
                <a:latin typeface="Segoe UI" panose="020B0502040204020203" pitchFamily="34" charset="0"/>
                <a:cs typeface="Segoe UI" panose="020B0502040204020203" pitchFamily="34" charset="0"/>
              </a:rPr>
              <a:t>/2</a:t>
            </a:r>
            <a:r>
              <a:rPr lang="ru-RU" b="1" dirty="0">
                <a:latin typeface="Segoe UI" panose="020B0502040204020203" pitchFamily="34" charset="0"/>
                <a:cs typeface="Segoe UI" panose="020B0502040204020203" pitchFamily="34" charset="0"/>
              </a:rPr>
              <a:t>6</a:t>
            </a:r>
            <a:endParaRPr lang="en-US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649B6907-F09E-4EB8-93CB-495EAA53E21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4436" r="15009" b="39587"/>
          <a:stretch/>
        </p:blipFill>
        <p:spPr>
          <a:xfrm>
            <a:off x="1371994" y="1355168"/>
            <a:ext cx="9447706" cy="4550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90470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981981" y="148977"/>
            <a:ext cx="880711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rPr lang="ru-RU" sz="4000" dirty="0">
                <a:latin typeface="+mj-lt"/>
              </a:rPr>
              <a:t>Основной функционал системы</a:t>
            </a:r>
            <a:endParaRPr sz="4000" dirty="0">
              <a:latin typeface="+mj-lt"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10840870" y="6054593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fld id="{C1FF6DA9-008F-8B48-92A6-B652298478BF}" type="slidenum">
              <a:rPr lang="en-US" b="1" smtClean="0">
                <a:latin typeface="Segoe UI" panose="020B0502040204020203" pitchFamily="34" charset="0"/>
                <a:cs typeface="Segoe UI" panose="020B0502040204020203" pitchFamily="34" charset="0"/>
              </a:rPr>
              <a:pPr/>
              <a:t>18</a:t>
            </a:fld>
            <a:r>
              <a:rPr lang="en-US" b="1" dirty="0">
                <a:latin typeface="Segoe UI" panose="020B0502040204020203" pitchFamily="34" charset="0"/>
                <a:cs typeface="Segoe UI" panose="020B0502040204020203" pitchFamily="34" charset="0"/>
              </a:rPr>
              <a:t>/2</a:t>
            </a:r>
            <a:r>
              <a:rPr lang="ru-RU" b="1" dirty="0">
                <a:latin typeface="Segoe UI" panose="020B0502040204020203" pitchFamily="34" charset="0"/>
                <a:cs typeface="Segoe UI" panose="020B0502040204020203" pitchFamily="34" charset="0"/>
              </a:rPr>
              <a:t>6</a:t>
            </a:r>
            <a:endParaRPr lang="en-US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0CECADC-6FCB-40A3-B373-C45B265C25B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4722" t="18643" r="15764" b="17407"/>
          <a:stretch/>
        </p:blipFill>
        <p:spPr>
          <a:xfrm>
            <a:off x="1555597" y="1355593"/>
            <a:ext cx="9080499" cy="469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048184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981981" y="148977"/>
            <a:ext cx="880711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rPr lang="ru-RU" sz="4000" dirty="0">
                <a:latin typeface="+mj-lt"/>
              </a:rPr>
              <a:t>Основной функционал системы</a:t>
            </a:r>
            <a:endParaRPr sz="4000" dirty="0">
              <a:latin typeface="+mj-lt"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10840870" y="6054593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fld id="{C1FF6DA9-008F-8B48-92A6-B652298478BF}" type="slidenum">
              <a:rPr lang="en-US" b="1" smtClean="0">
                <a:latin typeface="Segoe UI" panose="020B0502040204020203" pitchFamily="34" charset="0"/>
                <a:cs typeface="Segoe UI" panose="020B0502040204020203" pitchFamily="34" charset="0"/>
              </a:rPr>
              <a:pPr/>
              <a:t>19</a:t>
            </a:fld>
            <a:r>
              <a:rPr lang="en-US" b="1" dirty="0">
                <a:latin typeface="Segoe UI" panose="020B0502040204020203" pitchFamily="34" charset="0"/>
                <a:cs typeface="Segoe UI" panose="020B0502040204020203" pitchFamily="34" charset="0"/>
              </a:rPr>
              <a:t>/2</a:t>
            </a:r>
            <a:r>
              <a:rPr lang="ru-RU" b="1" dirty="0">
                <a:latin typeface="Segoe UI" panose="020B0502040204020203" pitchFamily="34" charset="0"/>
                <a:cs typeface="Segoe UI" panose="020B0502040204020203" pitchFamily="34" charset="0"/>
              </a:rPr>
              <a:t>6</a:t>
            </a:r>
            <a:endParaRPr lang="en-US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FF030-81F6-46FA-948F-C1DA59ACB02F}"/>
              </a:ext>
            </a:extLst>
          </p:cNvPr>
          <p:cNvSpPr txBox="1"/>
          <p:nvPr/>
        </p:nvSpPr>
        <p:spPr>
          <a:xfrm>
            <a:off x="3799384" y="3244334"/>
            <a:ext cx="45929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ru-RU" dirty="0"/>
              <a:t>Картинка с открытым </a:t>
            </a:r>
            <a:r>
              <a:rPr lang="en-US" dirty="0"/>
              <a:t>PDF-</a:t>
            </a:r>
            <a:r>
              <a:rPr lang="ru-RU" dirty="0"/>
              <a:t>документом</a:t>
            </a:r>
          </a:p>
        </p:txBody>
      </p:sp>
    </p:spTree>
    <p:extLst>
      <p:ext uri="{BB962C8B-B14F-4D97-AF65-F5344CB8AC3E}">
        <p14:creationId xmlns:p14="http://schemas.microsoft.com/office/powerpoint/2010/main" val="36989235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981663" y="148977"/>
            <a:ext cx="622836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rPr lang="ru-RU" sz="4000" dirty="0">
                <a:latin typeface="+mj-lt"/>
              </a:rPr>
              <a:t>Архитектура системы</a:t>
            </a:r>
            <a:endParaRPr sz="4000" dirty="0">
              <a:latin typeface="+mj-lt"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10840870" y="6054593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fld id="{C1FF6DA9-008F-8B48-92A6-B652298478BF}" type="slidenum">
              <a:rPr lang="en-US" b="1" smtClean="0">
                <a:latin typeface="Segoe UI" panose="020B0502040204020203" pitchFamily="34" charset="0"/>
                <a:cs typeface="Segoe UI" panose="020B0502040204020203" pitchFamily="34" charset="0"/>
              </a:rPr>
              <a:pPr/>
              <a:t>20</a:t>
            </a:fld>
            <a:r>
              <a:rPr lang="en-US" b="1" dirty="0">
                <a:latin typeface="Segoe UI" panose="020B0502040204020203" pitchFamily="34" charset="0"/>
                <a:cs typeface="Segoe UI" panose="020B0502040204020203" pitchFamily="34" charset="0"/>
              </a:rPr>
              <a:t>/2</a:t>
            </a:r>
            <a:r>
              <a:rPr lang="ru-RU" b="1" dirty="0">
                <a:latin typeface="Segoe UI" panose="020B0502040204020203" pitchFamily="34" charset="0"/>
                <a:cs typeface="Segoe UI" panose="020B0502040204020203" pitchFamily="34" charset="0"/>
              </a:rPr>
              <a:t>6</a:t>
            </a:r>
            <a:endParaRPr lang="en-US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0191552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981663" y="148977"/>
            <a:ext cx="622836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rPr lang="ru-RU" sz="4000" dirty="0">
                <a:latin typeface="+mj-lt"/>
              </a:rPr>
              <a:t>Архитектура системы</a:t>
            </a:r>
            <a:endParaRPr sz="4000" dirty="0">
              <a:latin typeface="+mj-lt"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10840870" y="6054593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fld id="{C1FF6DA9-008F-8B48-92A6-B652298478BF}" type="slidenum">
              <a:rPr lang="en-US" b="1" smtClean="0">
                <a:latin typeface="Segoe UI" panose="020B0502040204020203" pitchFamily="34" charset="0"/>
                <a:cs typeface="Segoe UI" panose="020B0502040204020203" pitchFamily="34" charset="0"/>
              </a:rPr>
              <a:pPr/>
              <a:t>21</a:t>
            </a:fld>
            <a:r>
              <a:rPr lang="en-US" b="1" dirty="0">
                <a:latin typeface="Segoe UI" panose="020B0502040204020203" pitchFamily="34" charset="0"/>
                <a:cs typeface="Segoe UI" panose="020B0502040204020203" pitchFamily="34" charset="0"/>
              </a:rPr>
              <a:t>/2</a:t>
            </a:r>
            <a:r>
              <a:rPr lang="ru-RU" b="1" dirty="0">
                <a:latin typeface="Segoe UI" panose="020B0502040204020203" pitchFamily="34" charset="0"/>
                <a:cs typeface="Segoe UI" panose="020B0502040204020203" pitchFamily="34" charset="0"/>
              </a:rPr>
              <a:t>6</a:t>
            </a:r>
            <a:endParaRPr lang="en-US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2534101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981663" y="148977"/>
            <a:ext cx="622836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rPr lang="ru-RU" sz="4000" dirty="0">
                <a:latin typeface="+mj-lt"/>
              </a:rPr>
              <a:t>Архитектура системы</a:t>
            </a:r>
            <a:endParaRPr sz="4000" dirty="0">
              <a:latin typeface="+mj-lt"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10840870" y="6054593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fld id="{C1FF6DA9-008F-8B48-92A6-B652298478BF}" type="slidenum">
              <a:rPr lang="en-US" b="1" smtClean="0">
                <a:latin typeface="Segoe UI" panose="020B0502040204020203" pitchFamily="34" charset="0"/>
                <a:cs typeface="Segoe UI" panose="020B0502040204020203" pitchFamily="34" charset="0"/>
              </a:rPr>
              <a:pPr/>
              <a:t>22</a:t>
            </a:fld>
            <a:r>
              <a:rPr lang="en-US" b="1" dirty="0">
                <a:latin typeface="Segoe UI" panose="020B0502040204020203" pitchFamily="34" charset="0"/>
                <a:cs typeface="Segoe UI" panose="020B0502040204020203" pitchFamily="34" charset="0"/>
              </a:rPr>
              <a:t>/2</a:t>
            </a:r>
            <a:r>
              <a:rPr lang="ru-RU" b="1" dirty="0">
                <a:latin typeface="Segoe UI" panose="020B0502040204020203" pitchFamily="34" charset="0"/>
                <a:cs typeface="Segoe UI" panose="020B0502040204020203" pitchFamily="34" charset="0"/>
              </a:rPr>
              <a:t>6</a:t>
            </a:r>
            <a:endParaRPr lang="en-US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366433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981663" y="148977"/>
            <a:ext cx="622836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rPr lang="ru-RU" sz="4000" dirty="0">
                <a:latin typeface="+mj-lt"/>
              </a:rPr>
              <a:t>Архитектура системы</a:t>
            </a:r>
            <a:endParaRPr sz="4000" dirty="0">
              <a:latin typeface="+mj-lt"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10840870" y="6054593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fld id="{C1FF6DA9-008F-8B48-92A6-B652298478BF}" type="slidenum">
              <a:rPr lang="en-US" b="1" smtClean="0">
                <a:latin typeface="Segoe UI" panose="020B0502040204020203" pitchFamily="34" charset="0"/>
                <a:cs typeface="Segoe UI" panose="020B0502040204020203" pitchFamily="34" charset="0"/>
              </a:rPr>
              <a:pPr/>
              <a:t>23</a:t>
            </a:fld>
            <a:r>
              <a:rPr lang="en-US" b="1" dirty="0">
                <a:latin typeface="Segoe UI" panose="020B0502040204020203" pitchFamily="34" charset="0"/>
                <a:cs typeface="Segoe UI" panose="020B0502040204020203" pitchFamily="34" charset="0"/>
              </a:rPr>
              <a:t>/2</a:t>
            </a:r>
            <a:r>
              <a:rPr lang="ru-RU" b="1" dirty="0">
                <a:latin typeface="Segoe UI" panose="020B0502040204020203" pitchFamily="34" charset="0"/>
                <a:cs typeface="Segoe UI" panose="020B0502040204020203" pitchFamily="34" charset="0"/>
              </a:rPr>
              <a:t>6</a:t>
            </a:r>
            <a:endParaRPr lang="en-US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6739323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981663" y="148977"/>
            <a:ext cx="622836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rPr lang="ru-RU" sz="4000" dirty="0">
                <a:latin typeface="+mj-lt"/>
              </a:rPr>
              <a:t>Архитектура системы</a:t>
            </a:r>
            <a:endParaRPr sz="4000" dirty="0">
              <a:latin typeface="+mj-lt"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10840870" y="6054593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fld id="{C1FF6DA9-008F-8B48-92A6-B652298478BF}" type="slidenum">
              <a:rPr lang="en-US" b="1" smtClean="0">
                <a:latin typeface="Segoe UI" panose="020B0502040204020203" pitchFamily="34" charset="0"/>
                <a:cs typeface="Segoe UI" panose="020B0502040204020203" pitchFamily="34" charset="0"/>
              </a:rPr>
              <a:pPr/>
              <a:t>24</a:t>
            </a:fld>
            <a:r>
              <a:rPr lang="en-US" b="1" dirty="0">
                <a:latin typeface="Segoe UI" panose="020B0502040204020203" pitchFamily="34" charset="0"/>
                <a:cs typeface="Segoe UI" panose="020B0502040204020203" pitchFamily="34" charset="0"/>
              </a:rPr>
              <a:t>/2</a:t>
            </a:r>
            <a:r>
              <a:rPr lang="ru-RU" b="1" dirty="0">
                <a:latin typeface="Segoe UI" panose="020B0502040204020203" pitchFamily="34" charset="0"/>
                <a:cs typeface="Segoe UI" panose="020B0502040204020203" pitchFamily="34" charset="0"/>
              </a:rPr>
              <a:t>6</a:t>
            </a:r>
            <a:endParaRPr lang="en-US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656632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189</TotalTime>
  <Words>481</Words>
  <Application>Microsoft Office PowerPoint</Application>
  <PresentationFormat>Широкоэкранный</PresentationFormat>
  <Paragraphs>114</Paragraphs>
  <Slides>24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24</vt:i4>
      </vt:variant>
    </vt:vector>
  </HeadingPairs>
  <TitlesOfParts>
    <vt:vector size="31" baseType="lpstr">
      <vt:lpstr>Arial</vt:lpstr>
      <vt:lpstr>Calibri</vt:lpstr>
      <vt:lpstr>Noto Sans</vt:lpstr>
      <vt:lpstr>Segoe UI</vt:lpstr>
      <vt:lpstr>Segoe UI Black</vt:lpstr>
      <vt:lpstr>Times New Roman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АО «ММЗ»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системы подбора измерительных приборов</dc:title>
  <dc:subject>ВКР бакалавра по программной инженерии</dc:subject>
  <dc:creator>Kirill</dc:creator>
  <cp:lastModifiedBy>Kirill</cp:lastModifiedBy>
  <cp:revision>27</cp:revision>
  <dcterms:created xsi:type="dcterms:W3CDTF">2026-06-10T17:35:13Z</dcterms:created>
  <dcterms:modified xsi:type="dcterms:W3CDTF">2026-06-11T04:07:58Z</dcterms:modified>
</cp:coreProperties>
</file>