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86" r:id="rId3"/>
    <p:sldId id="287" r:id="rId4"/>
    <p:sldId id="289" r:id="rId5"/>
    <p:sldId id="290" r:id="rId6"/>
    <p:sldId id="291" r:id="rId7"/>
    <p:sldId id="292" r:id="rId8"/>
    <p:sldId id="293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14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2D30A-ED29-4ED4-8268-9B55AAC3476B}" type="datetime1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306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5235" y="2073382"/>
            <a:ext cx="8739632" cy="5304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ru-RU" sz="3200" dirty="0">
                <a:solidFill>
                  <a:schemeClr val="bg1"/>
                </a:solidFill>
                <a:effectLst/>
                <a:latin typeface="+mj-lt"/>
                <a:ea typeface="Times New Roman" panose="02020603050405020304" pitchFamily="18" charset="0"/>
              </a:rPr>
              <a:t>Разработка </a:t>
            </a:r>
            <a:r>
              <a:rPr lang="en-US" sz="3200" dirty="0">
                <a:solidFill>
                  <a:schemeClr val="bg1"/>
                </a:solidFill>
                <a:effectLst/>
                <a:latin typeface="+mj-lt"/>
                <a:ea typeface="Times New Roman" panose="02020603050405020304" pitchFamily="18" charset="0"/>
              </a:rPr>
              <a:t>RAG</a:t>
            </a:r>
            <a:r>
              <a:rPr lang="ru-RU" sz="3200" dirty="0">
                <a:solidFill>
                  <a:schemeClr val="bg1"/>
                </a:solidFill>
                <a:effectLst/>
                <a:latin typeface="+mj-lt"/>
                <a:ea typeface="Times New Roman" panose="02020603050405020304" pitchFamily="18" charset="0"/>
              </a:rPr>
              <a:t>-системы для отдела метрологии</a:t>
            </a:r>
            <a:endParaRPr lang="en-US" sz="4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3FFD9EB-C6C2-4095-A7AF-F8B5436E5BD9}"/>
              </a:ext>
            </a:extLst>
          </p:cNvPr>
          <p:cNvSpPr/>
          <p:nvPr/>
        </p:nvSpPr>
        <p:spPr>
          <a:xfrm>
            <a:off x="565235" y="623851"/>
            <a:ext cx="10262680" cy="54021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3000"/>
              </a:lnSpc>
            </a:pPr>
            <a:r>
              <a:rPr lang="en-US" sz="2400" dirty="0" err="1">
                <a:solidFill>
                  <a:schemeClr val="bg1"/>
                </a:solidFill>
                <a:latin typeface="+mj-lt"/>
                <a:ea typeface="Segoe UI Black" panose="020B0A02040204020203" pitchFamily="34" charset="0"/>
                <a:cs typeface="Segoe UI" panose="020B0502040204020203" pitchFamily="34" charset="0"/>
              </a:rPr>
              <a:t>Выпускная</a:t>
            </a:r>
            <a:r>
              <a:rPr lang="en-US" sz="2400" dirty="0">
                <a:solidFill>
                  <a:schemeClr val="bg1"/>
                </a:solidFill>
                <a:latin typeface="+mj-lt"/>
                <a:ea typeface="Segoe UI Black" panose="020B0A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+mj-lt"/>
                <a:ea typeface="Segoe UI Black" panose="020B0A02040204020203" pitchFamily="34" charset="0"/>
                <a:cs typeface="Segoe UI" panose="020B0502040204020203" pitchFamily="34" charset="0"/>
              </a:rPr>
              <a:t>квалификационная</a:t>
            </a:r>
            <a:r>
              <a:rPr lang="en-US" sz="2400" dirty="0">
                <a:solidFill>
                  <a:schemeClr val="bg1"/>
                </a:solidFill>
                <a:latin typeface="+mj-lt"/>
                <a:ea typeface="Segoe UI Black" panose="020B0A02040204020203" pitchFamily="34" charset="0"/>
                <a:cs typeface="Segoe UI" panose="020B0502040204020203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+mj-lt"/>
                <a:ea typeface="Segoe UI Black" panose="020B0A02040204020203" pitchFamily="34" charset="0"/>
                <a:cs typeface="Segoe UI" panose="020B0502040204020203" pitchFamily="34" charset="0"/>
              </a:rPr>
              <a:t>работа</a:t>
            </a:r>
            <a:r>
              <a:rPr lang="en-US" sz="2400" dirty="0">
                <a:solidFill>
                  <a:schemeClr val="bg1"/>
                </a:solidFill>
                <a:latin typeface="+mj-lt"/>
                <a:ea typeface="Segoe UI Black" panose="020B0A02040204020203" pitchFamily="34" charset="0"/>
                <a:cs typeface="Segoe UI" panose="020B0502040204020203" pitchFamily="34" charset="0"/>
              </a:rPr>
              <a:t> · </a:t>
            </a:r>
            <a:r>
              <a:rPr lang="en-US" sz="2400" dirty="0" err="1">
                <a:solidFill>
                  <a:schemeClr val="bg1"/>
                </a:solidFill>
                <a:latin typeface="+mj-lt"/>
                <a:ea typeface="Segoe UI Black" panose="020B0A02040204020203" pitchFamily="34" charset="0"/>
                <a:cs typeface="Segoe UI" panose="020B0502040204020203" pitchFamily="34" charset="0"/>
              </a:rPr>
              <a:t>Кафедра</a:t>
            </a:r>
            <a:r>
              <a:rPr lang="en-US" sz="2400" dirty="0">
                <a:solidFill>
                  <a:schemeClr val="bg1"/>
                </a:solidFill>
                <a:latin typeface="+mj-lt"/>
                <a:ea typeface="Segoe UI Black" panose="020B0A02040204020203" pitchFamily="34" charset="0"/>
                <a:cs typeface="Segoe UI" panose="020B0502040204020203" pitchFamily="34" charset="0"/>
              </a:rPr>
              <a:t> И</a:t>
            </a:r>
            <a:r>
              <a:rPr lang="ru-RU" sz="2400" dirty="0">
                <a:solidFill>
                  <a:schemeClr val="bg1"/>
                </a:solidFill>
                <a:latin typeface="+mj-lt"/>
                <a:ea typeface="Segoe UI Black" panose="020B0A02040204020203" pitchFamily="34" charset="0"/>
                <a:cs typeface="Segoe UI" panose="020B0502040204020203" pitchFamily="34" charset="0"/>
              </a:rPr>
              <a:t>и</a:t>
            </a:r>
            <a:r>
              <a:rPr lang="en-US" sz="2400" dirty="0">
                <a:solidFill>
                  <a:schemeClr val="bg1"/>
                </a:solidFill>
                <a:latin typeface="+mj-lt"/>
                <a:ea typeface="Segoe UI Black" panose="020B0A02040204020203" pitchFamily="34" charset="0"/>
                <a:cs typeface="Segoe UI" panose="020B0502040204020203" pitchFamily="34" charset="0"/>
              </a:rPr>
              <a:t>СП · 2026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5077E888-2DBC-4CDC-97CB-C90B719BC736}"/>
              </a:ext>
            </a:extLst>
          </p:cNvPr>
          <p:cNvSpPr txBox="1"/>
          <p:nvPr/>
        </p:nvSpPr>
        <p:spPr>
          <a:xfrm>
            <a:off x="565235" y="3901268"/>
            <a:ext cx="5903298" cy="61811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50"/>
              </a:spcAft>
              <a:defRPr sz="1500">
                <a:solidFill>
                  <a:srgbClr val="B9E5FA"/>
                </a:solidFill>
                <a:latin typeface="Segoe UI"/>
              </a:defRPr>
            </a:pPr>
            <a:r>
              <a:rPr dirty="0" err="1">
                <a:solidFill>
                  <a:schemeClr val="bg1"/>
                </a:solidFill>
                <a:ea typeface="Segoe UI Black" panose="020B0A02040204020203" pitchFamily="34" charset="0"/>
              </a:rPr>
              <a:t>Студент</a:t>
            </a:r>
            <a:r>
              <a:rPr dirty="0">
                <a:solidFill>
                  <a:schemeClr val="bg1"/>
                </a:solidFill>
                <a:ea typeface="Segoe UI Black" panose="020B0A02040204020203" pitchFamily="34" charset="0"/>
              </a:rPr>
              <a:t>: </a:t>
            </a:r>
            <a:r>
              <a:rPr lang="ru-RU" dirty="0">
                <a:solidFill>
                  <a:schemeClr val="bg1"/>
                </a:solidFill>
                <a:ea typeface="Segoe UI Black" panose="020B0A02040204020203" pitchFamily="34" charset="0"/>
              </a:rPr>
              <a:t>Долгоруков Кирилл Леонидович, группа ПС-42</a:t>
            </a:r>
            <a:endParaRPr dirty="0">
              <a:solidFill>
                <a:schemeClr val="bg1"/>
              </a:solidFill>
              <a:ea typeface="Segoe UI Black" panose="020B0A02040204020203" pitchFamily="34" charset="0"/>
            </a:endParaRPr>
          </a:p>
          <a:p>
            <a:r>
              <a:rPr sz="1500" dirty="0" err="1">
                <a:solidFill>
                  <a:schemeClr val="bg1"/>
                </a:solidFill>
                <a:ea typeface="Segoe UI Black" panose="020B0A02040204020203" pitchFamily="34" charset="0"/>
              </a:rPr>
              <a:t>Руководитель</a:t>
            </a:r>
            <a:r>
              <a:rPr sz="1500" dirty="0">
                <a:solidFill>
                  <a:schemeClr val="bg1"/>
                </a:solidFill>
                <a:ea typeface="Segoe UI Black" panose="020B0A02040204020203" pitchFamily="34" charset="0"/>
              </a:rPr>
              <a:t>: </a:t>
            </a:r>
            <a:r>
              <a:rPr lang="ru-RU" sz="1500" dirty="0">
                <a:solidFill>
                  <a:schemeClr val="bg1"/>
                </a:solidFill>
                <a:ea typeface="Segoe UI Black" panose="020B0A02040204020203" pitchFamily="34" charset="0"/>
              </a:rPr>
              <a:t>доцент </a:t>
            </a:r>
            <a:r>
              <a:rPr lang="ru-RU" sz="1500" dirty="0" err="1">
                <a:solidFill>
                  <a:schemeClr val="bg1"/>
                </a:solidFill>
                <a:ea typeface="Segoe UI Black" panose="020B0A02040204020203" pitchFamily="34" charset="0"/>
              </a:rPr>
              <a:t>Нехорошкова</a:t>
            </a:r>
            <a:r>
              <a:rPr lang="ru-RU" sz="1500" dirty="0">
                <a:solidFill>
                  <a:schemeClr val="bg1"/>
                </a:solidFill>
                <a:ea typeface="Segoe UI Black" panose="020B0A02040204020203" pitchFamily="34" charset="0"/>
              </a:rPr>
              <a:t> Л. Г.</a:t>
            </a:r>
          </a:p>
        </p:txBody>
      </p:sp>
      <p:pic>
        <p:nvPicPr>
          <p:cNvPr id="13" name="Picture 3">
            <a:extLst>
              <a:ext uri="{FF2B5EF4-FFF2-40B4-BE49-F238E27FC236}">
                <a16:creationId xmlns:a16="http://schemas.microsoft.com/office/drawing/2014/main" id="{F36D6D14-0EE5-4993-8EA6-66850A3B9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35" y="5296321"/>
            <a:ext cx="4133851" cy="108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>
            <a:extLst>
              <a:ext uri="{FF2B5EF4-FFF2-40B4-BE49-F238E27FC236}">
                <a16:creationId xmlns:a16="http://schemas.microsoft.com/office/drawing/2014/main" id="{542E07A2-50AC-406A-B71E-C07E71FC6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3896" y="5439890"/>
            <a:ext cx="4133850" cy="1029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50095" y="148977"/>
            <a:ext cx="40915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sz="4000" dirty="0" err="1">
                <a:latin typeface="+mj-lt"/>
              </a:rPr>
              <a:t>Актуальность</a:t>
            </a:r>
            <a:endParaRPr sz="4000"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64855" y="1087883"/>
            <a:ext cx="1056242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7DBA"/>
                </a:solidFill>
                <a:latin typeface="Segoe UI"/>
              </a:defRPr>
            </a:pPr>
            <a:r>
              <a:rPr sz="2800" dirty="0" err="1">
                <a:solidFill>
                  <a:srgbClr val="0070C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Проблема</a:t>
            </a:r>
            <a:r>
              <a:rPr sz="2800" dirty="0">
                <a:solidFill>
                  <a:srgbClr val="0070C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ru-RU" sz="2800" dirty="0">
                <a:solidFill>
                  <a:srgbClr val="0070C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трудоёмкого подбора измерительных приборов</a:t>
            </a:r>
            <a:r>
              <a:rPr sz="2800" dirty="0">
                <a:solidFill>
                  <a:srgbClr val="0070C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800" dirty="0" err="1">
                <a:solidFill>
                  <a:srgbClr val="0070C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на</a:t>
            </a:r>
            <a:r>
              <a:rPr sz="2800" dirty="0">
                <a:solidFill>
                  <a:srgbClr val="0070C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sz="2800" dirty="0" err="1">
                <a:solidFill>
                  <a:srgbClr val="0070C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заводе</a:t>
            </a:r>
            <a:r>
              <a:rPr sz="2800" dirty="0">
                <a:solidFill>
                  <a:srgbClr val="0070C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АО «ММЗ»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0524" y="2652066"/>
            <a:ext cx="10350951" cy="2741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sz="2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На</a:t>
            </a:r>
            <a:r>
              <a:rPr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ru-RU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производстве</a:t>
            </a:r>
            <a:r>
              <a:rPr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используются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тысячи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средств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измерений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паспортов</a:t>
            </a:r>
            <a:r>
              <a:rPr lang="ru-RU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и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описаний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типов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2400" dirty="0"/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rPr lang="en-US" sz="2400" b="1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</a:t>
            </a:r>
            <a:r>
              <a:rPr lang="en-US" sz="2400" b="1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b="1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ручном</a:t>
            </a:r>
            <a:r>
              <a:rPr lang="en-US" sz="2400" b="1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b="1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поиске</a:t>
            </a:r>
            <a:r>
              <a:rPr lang="ru-RU" sz="2400" b="1" dirty="0">
                <a:solidFill>
                  <a:srgbClr val="0E2733"/>
                </a:solidFill>
                <a:latin typeface="Segoe UI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метролог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сопоставляет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диапазоны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погрешности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единицы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измерения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и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место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размещения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вручную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2400" dirty="0"/>
          </a:p>
          <a:p>
            <a:pPr>
              <a:spcAft>
                <a:spcPts val="480"/>
              </a:spcAft>
              <a:defRPr sz="1600">
                <a:solidFill>
                  <a:srgbClr val="333333"/>
                </a:solidFill>
                <a:latin typeface="Segoe UI"/>
              </a:defRPr>
            </a:pPr>
            <a:r>
              <a:rPr lang="en-US" sz="2400" b="1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Ценность</a:t>
            </a:r>
            <a:r>
              <a:rPr lang="en-US" sz="2400" b="1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ru-RU" sz="2400" b="1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моей </a:t>
            </a:r>
            <a:r>
              <a:rPr lang="en-US" sz="2400" b="1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системы</a:t>
            </a:r>
            <a:r>
              <a:rPr lang="ru-RU" sz="2400" b="1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в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сокращени</a:t>
            </a:r>
            <a:r>
              <a:rPr lang="ru-RU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времени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поиска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снижение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риска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ошибки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и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работа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без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передачи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данных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во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внешние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400" dirty="0" err="1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сервисы</a:t>
            </a:r>
            <a:r>
              <a:rPr lang="en-US" sz="2400" dirty="0">
                <a:solidFill>
                  <a:srgbClr val="0E27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24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0840870" y="6054593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C1FF6DA9-008F-8B48-92A6-B652298478BF}" type="slidenum">
              <a:rPr lang="en-US" b="1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2</a:t>
            </a:fld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/2</a:t>
            </a: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2821" y="148977"/>
            <a:ext cx="44864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ru-RU" sz="4000" dirty="0">
                <a:latin typeface="+mj-lt"/>
              </a:rPr>
              <a:t>Цели и задачи</a:t>
            </a:r>
            <a:endParaRPr sz="4000"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5" y="1005840"/>
            <a:ext cx="1219169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7DBA"/>
                </a:solidFill>
                <a:latin typeface="Segoe UI"/>
              </a:defRPr>
            </a:pPr>
            <a:r>
              <a:rPr lang="ru-RU" sz="2800" dirty="0">
                <a:solidFill>
                  <a:srgbClr val="0070C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Цель: </a:t>
            </a:r>
            <a:r>
              <a:rPr lang="ru-RU" sz="2800" dirty="0">
                <a:solidFill>
                  <a:srgbClr val="0070C0"/>
                </a:solidFill>
                <a:ea typeface="Segoe UI Black" panose="020B0A02040204020203" pitchFamily="34" charset="0"/>
                <a:cs typeface="Arial" panose="020B0604020202020204" pitchFamily="34" charset="0"/>
              </a:rPr>
              <a:t>разработка вопросно-ответной RAG-системы для автоматизированного подбора средств измерений по запросам метрологов и инженеров на основе описаний типов, загруженных в базу знаний, и сведений из внутренней базы данных предприятия</a:t>
            </a:r>
            <a:endParaRPr sz="2800" dirty="0">
              <a:solidFill>
                <a:srgbClr val="0070C0"/>
              </a:solidFill>
              <a:ea typeface="Segoe UI Black" panose="020B0A0204020402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5" y="3199622"/>
            <a:ext cx="1219169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Задачи: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Изучить предметную область метрологии на предприятии и определить основные сценарии поиска средств измерений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Собрать и уточнить требования к автоматизированной системе совместно со специалистами метрологической службы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Изучить принципы работы RAG-систем, векторного поиска,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эмбеддингов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и повторного ранжирования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Спроектировать архитектуру системы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Реализовать модуль загрузки и обработки PDF-документов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Реализовать серверную часть приложения и REST API для взаимодействия с клиентской частью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Провести функциональную проверку системы</a:t>
            </a:r>
          </a:p>
          <a:p>
            <a:pPr marL="28575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Оценить соответствие системы требованиям по времени ответа, автономности и удобству использования</a:t>
            </a:r>
            <a:br>
              <a:rPr lang="ru-RU" sz="2400" dirty="0"/>
            </a:br>
            <a:endParaRPr lang="ru-RU" sz="24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840870" y="6054593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C1FF6DA9-008F-8B48-92A6-B652298478BF}" type="slidenum">
              <a:rPr lang="en-US" b="1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3</a:t>
            </a:fld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/2</a:t>
            </a: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6041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02821" y="148977"/>
            <a:ext cx="48812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ru-RU" sz="4000" dirty="0">
                <a:latin typeface="+mj-lt"/>
              </a:rPr>
              <a:t>Анализ аналогов</a:t>
            </a:r>
            <a:endParaRPr sz="4000" dirty="0">
              <a:latin typeface="+mj-lt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840870" y="6054593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C1FF6DA9-008F-8B48-92A6-B652298478BF}" type="slidenum">
              <a:rPr lang="en-US" b="1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4</a:t>
            </a:fld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/2</a:t>
            </a: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451151F9-A6D0-4B25-9E92-074D14851B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245780"/>
              </p:ext>
            </p:extLst>
          </p:nvPr>
        </p:nvGraphicFramePr>
        <p:xfrm>
          <a:off x="306" y="1010653"/>
          <a:ext cx="12191694" cy="344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6059">
                  <a:extLst>
                    <a:ext uri="{9D8B030D-6E8A-4147-A177-3AD203B41FA5}">
                      <a16:colId xmlns:a16="http://schemas.microsoft.com/office/drawing/2014/main" val="2242859254"/>
                    </a:ext>
                  </a:extLst>
                </a:gridCol>
                <a:gridCol w="5293895">
                  <a:extLst>
                    <a:ext uri="{9D8B030D-6E8A-4147-A177-3AD203B41FA5}">
                      <a16:colId xmlns:a16="http://schemas.microsoft.com/office/drawing/2014/main" val="1880395534"/>
                    </a:ext>
                  </a:extLst>
                </a:gridCol>
                <a:gridCol w="4741740">
                  <a:extLst>
                    <a:ext uri="{9D8B030D-6E8A-4147-A177-3AD203B41FA5}">
                      <a16:colId xmlns:a16="http://schemas.microsoft.com/office/drawing/2014/main" val="1236565180"/>
                    </a:ext>
                  </a:extLst>
                </a:gridCol>
              </a:tblGrid>
              <a:tr h="135861">
                <a:tc>
                  <a:txBody>
                    <a:bodyPr/>
                    <a:lstStyle/>
                    <a:p>
                      <a:r>
                        <a:rPr lang="ru-RU" sz="1400" dirty="0"/>
                        <a:t>Продукт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Плюсы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Минусы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157601"/>
                  </a:ext>
                </a:extLst>
              </a:tr>
              <a:tr h="326066">
                <a:tc>
                  <a:txBody>
                    <a:bodyPr/>
                    <a:lstStyle/>
                    <a:p>
                      <a:r>
                        <a:rPr lang="en-US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Glean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корпоративный поиск по множеству источников</a:t>
                      </a:r>
                    </a:p>
                    <a:p>
                      <a:pPr marL="285750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RAG-чат</a:t>
                      </a:r>
                    </a:p>
                    <a:p>
                      <a:pPr marL="285750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цитирование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высокая стоимость при большом числе пользователей</a:t>
                      </a:r>
                    </a:p>
                    <a:p>
                      <a:pPr marL="285750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зависимость от внешней инфраструктуры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529272"/>
                  </a:ext>
                </a:extLst>
              </a:tr>
              <a:tr h="326066">
                <a:tc>
                  <a:txBody>
                    <a:bodyPr/>
                    <a:lstStyle/>
                    <a:p>
                      <a:r>
                        <a:rPr lang="it-IT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Microsoft Copilot + Azure AI Search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интеграция с экосистемой Microsoft</a:t>
                      </a:r>
                    </a:p>
                    <a:p>
                      <a:pPr marL="285750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гибридный и семантический поиск</a:t>
                      </a:r>
                    </a:p>
                    <a:p>
                      <a:pPr marL="285750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учет прав доступа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стоимость лицензий Microsoft 365, </a:t>
                      </a:r>
                      <a:r>
                        <a:rPr lang="ru-RU" sz="14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Copilot</a:t>
                      </a:r>
                      <a:r>
                        <a:rPr lang="ru-RU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и </a:t>
                      </a:r>
                      <a:r>
                        <a:rPr lang="ru-RU" sz="14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Azure</a:t>
                      </a:r>
                      <a:endParaRPr lang="ru-RU" sz="1400" b="0" i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привязка к облаку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347620"/>
                  </a:ext>
                </a:extLst>
              </a:tr>
              <a:tr h="326066">
                <a:tc>
                  <a:txBody>
                    <a:bodyPr/>
                    <a:lstStyle/>
                    <a:p>
                      <a:r>
                        <a:rPr lang="en-US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Amazon Q Business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подключение множества источников</a:t>
                      </a:r>
                    </a:p>
                    <a:p>
                      <a:pPr marL="285750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гибридный поиск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подписочная модель</a:t>
                      </a:r>
                    </a:p>
                    <a:p>
                      <a:pPr marL="285750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зависимость от облака Amazon</a:t>
                      </a:r>
                    </a:p>
                    <a:p>
                      <a:pPr marL="285750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 специализирован под метрологию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23370"/>
                  </a:ext>
                </a:extLst>
              </a:tr>
              <a:tr h="421169">
                <a:tc>
                  <a:txBody>
                    <a:bodyPr/>
                    <a:lstStyle/>
                    <a:p>
                      <a:r>
                        <a:rPr lang="en-US" sz="14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Vectara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быстрый запуск RAG-прототипа</a:t>
                      </a:r>
                    </a:p>
                    <a:p>
                      <a:pPr marL="285750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поддержка популярных форматов</a:t>
                      </a:r>
                    </a:p>
                    <a:p>
                      <a:pPr marL="285750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гибридный поиск и ответы с цитатами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облачная модель</a:t>
                      </a:r>
                    </a:p>
                    <a:p>
                      <a:pPr marL="285750" indent="-285750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ограниченная адаптация под внутренние промышленные форматы и локальные базы предприятия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14035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BE32012-B230-4261-A2B6-92A59D124F77}"/>
              </a:ext>
            </a:extLst>
          </p:cNvPr>
          <p:cNvSpPr txBox="1"/>
          <p:nvPr/>
        </p:nvSpPr>
        <p:spPr>
          <a:xfrm>
            <a:off x="406400" y="5003800"/>
            <a:ext cx="9762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Вывод: необходима собственная реализация </a:t>
            </a:r>
            <a:r>
              <a:rPr lang="en-US" dirty="0"/>
              <a:t>RAG-</a:t>
            </a:r>
            <a:r>
              <a:rPr lang="ru-RU" dirty="0"/>
              <a:t>системы под нужды предприятия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558A9B-BB01-4200-8E25-2A0ABF2B739C}"/>
              </a:ext>
            </a:extLst>
          </p:cNvPr>
          <p:cNvSpPr txBox="1"/>
          <p:nvPr/>
        </p:nvSpPr>
        <p:spPr>
          <a:xfrm>
            <a:off x="347133" y="5664200"/>
            <a:ext cx="11388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Главные условия: ориентированность на метрологию, независимость от внешних инфраструктур</a:t>
            </a:r>
          </a:p>
        </p:txBody>
      </p:sp>
    </p:spTree>
    <p:extLst>
      <p:ext uri="{BB962C8B-B14F-4D97-AF65-F5344CB8AC3E}">
        <p14:creationId xmlns:p14="http://schemas.microsoft.com/office/powerpoint/2010/main" val="2774441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96381" y="148977"/>
            <a:ext cx="51989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ru-RU" sz="4000" dirty="0">
                <a:latin typeface="+mj-lt"/>
              </a:rPr>
              <a:t>Выбор технологий</a:t>
            </a:r>
            <a:endParaRPr sz="4000" dirty="0">
              <a:latin typeface="+mj-lt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840870" y="6054593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C1FF6DA9-008F-8B48-92A6-B652298478BF}" type="slidenum">
              <a:rPr lang="en-US" b="1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5</a:t>
            </a:fld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/2</a:t>
            </a: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2" name="Таблица 4">
            <a:extLst>
              <a:ext uri="{FF2B5EF4-FFF2-40B4-BE49-F238E27FC236}">
                <a16:creationId xmlns:a16="http://schemas.microsoft.com/office/drawing/2014/main" id="{7D9E1410-A233-4716-B33D-E651DB5EAE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734213"/>
              </p:ext>
            </p:extLst>
          </p:nvPr>
        </p:nvGraphicFramePr>
        <p:xfrm>
          <a:off x="7714075" y="3456746"/>
          <a:ext cx="1452346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2346">
                  <a:extLst>
                    <a:ext uri="{9D8B030D-6E8A-4147-A177-3AD203B41FA5}">
                      <a16:colId xmlns:a16="http://schemas.microsoft.com/office/drawing/2014/main" val="2830124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База данных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5865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MSSQL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79496"/>
                  </a:ext>
                </a:extLst>
              </a:tr>
            </a:tbl>
          </a:graphicData>
        </a:graphic>
      </p:graphicFrame>
      <p:graphicFrame>
        <p:nvGraphicFramePr>
          <p:cNvPr id="14" name="Таблица 4">
            <a:extLst>
              <a:ext uri="{FF2B5EF4-FFF2-40B4-BE49-F238E27FC236}">
                <a16:creationId xmlns:a16="http://schemas.microsoft.com/office/drawing/2014/main" id="{F8E641AB-A8EC-4FB2-B20D-172A1090CA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129893"/>
              </p:ext>
            </p:extLst>
          </p:nvPr>
        </p:nvGraphicFramePr>
        <p:xfrm>
          <a:off x="2954875" y="2808303"/>
          <a:ext cx="1968456" cy="1289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456">
                  <a:extLst>
                    <a:ext uri="{9D8B030D-6E8A-4147-A177-3AD203B41FA5}">
                      <a16:colId xmlns:a16="http://schemas.microsoft.com/office/drawing/2014/main" val="2830124982"/>
                    </a:ext>
                  </a:extLst>
                </a:gridCol>
              </a:tblGrid>
              <a:tr h="816432">
                <a:tc>
                  <a:txBody>
                    <a:bodyPr/>
                    <a:lstStyle/>
                    <a:p>
                      <a:r>
                        <a:rPr lang="ru-RU" dirty="0"/>
                        <a:t>Клиентская часть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5865819"/>
                  </a:ext>
                </a:extLst>
              </a:tr>
              <a:tr h="473012">
                <a:tc>
                  <a:txBody>
                    <a:bodyPr/>
                    <a:lstStyle/>
                    <a:p>
                      <a:r>
                        <a:rPr lang="en-US" dirty="0"/>
                        <a:t>React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79496"/>
                  </a:ext>
                </a:extLst>
              </a:tr>
            </a:tbl>
          </a:graphicData>
        </a:graphic>
      </p:graphicFrame>
      <p:graphicFrame>
        <p:nvGraphicFramePr>
          <p:cNvPr id="15" name="Таблица 4">
            <a:extLst>
              <a:ext uri="{FF2B5EF4-FFF2-40B4-BE49-F238E27FC236}">
                <a16:creationId xmlns:a16="http://schemas.microsoft.com/office/drawing/2014/main" id="{4822286A-567E-4D22-AD07-E2F991ADD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613106"/>
              </p:ext>
            </p:extLst>
          </p:nvPr>
        </p:nvGraphicFramePr>
        <p:xfrm>
          <a:off x="520676" y="1391328"/>
          <a:ext cx="1874057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057">
                  <a:extLst>
                    <a:ext uri="{9D8B030D-6E8A-4147-A177-3AD203B41FA5}">
                      <a16:colId xmlns:a16="http://schemas.microsoft.com/office/drawing/2014/main" val="2830124982"/>
                    </a:ext>
                  </a:extLst>
                </a:gridCol>
              </a:tblGrid>
              <a:tr h="299185">
                <a:tc>
                  <a:txBody>
                    <a:bodyPr/>
                    <a:lstStyle/>
                    <a:p>
                      <a:r>
                        <a:rPr lang="ru-RU" dirty="0"/>
                        <a:t>Серверная часть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5865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  <a:r>
                        <a:rPr lang="ru-RU" dirty="0"/>
                        <a:t> + </a:t>
                      </a:r>
                      <a:r>
                        <a:rPr lang="en-US" dirty="0"/>
                        <a:t>Flask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79496"/>
                  </a:ext>
                </a:extLst>
              </a:tr>
            </a:tbl>
          </a:graphicData>
        </a:graphic>
      </p:graphicFrame>
      <p:graphicFrame>
        <p:nvGraphicFramePr>
          <p:cNvPr id="19" name="Таблица 15">
            <a:extLst>
              <a:ext uri="{FF2B5EF4-FFF2-40B4-BE49-F238E27FC236}">
                <a16:creationId xmlns:a16="http://schemas.microsoft.com/office/drawing/2014/main" id="{F5345D0C-6C62-4FF7-9750-00A723597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160503"/>
              </p:ext>
            </p:extLst>
          </p:nvPr>
        </p:nvGraphicFramePr>
        <p:xfrm>
          <a:off x="10002974" y="1239131"/>
          <a:ext cx="1756609" cy="12852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56609">
                  <a:extLst>
                    <a:ext uri="{9D8B030D-6E8A-4147-A177-3AD203B41FA5}">
                      <a16:colId xmlns:a16="http://schemas.microsoft.com/office/drawing/2014/main" val="664026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Развертывание приложения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067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Docker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54698"/>
                  </a:ext>
                </a:extLst>
              </a:tr>
            </a:tbl>
          </a:graphicData>
        </a:graphic>
      </p:graphicFrame>
      <p:pic>
        <p:nvPicPr>
          <p:cNvPr id="1042" name="Picture 18" descr="Logo device only">
            <a:extLst>
              <a:ext uri="{FF2B5EF4-FFF2-40B4-BE49-F238E27FC236}">
                <a16:creationId xmlns:a16="http://schemas.microsoft.com/office/drawing/2014/main" id="{2D6A2490-736C-4856-ACC8-12093DFE54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583"/>
          <a:stretch/>
        </p:blipFill>
        <p:spPr bwMode="auto">
          <a:xfrm>
            <a:off x="924625" y="2808303"/>
            <a:ext cx="1066158" cy="1129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BDE81565-26A2-472E-928B-D074AF2CC3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301" r="62603" b="13486"/>
          <a:stretch/>
        </p:blipFill>
        <p:spPr>
          <a:xfrm>
            <a:off x="3212930" y="4270761"/>
            <a:ext cx="1452346" cy="133834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CBA66F92-6B4D-489B-9FE2-559DE05B77E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6054"/>
          <a:stretch/>
        </p:blipFill>
        <p:spPr>
          <a:xfrm>
            <a:off x="5787431" y="2679979"/>
            <a:ext cx="1066158" cy="1185211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08C8538A-2819-4023-9065-E1BA0E4D79B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2397"/>
          <a:stretch/>
        </p:blipFill>
        <p:spPr>
          <a:xfrm>
            <a:off x="7222489" y="4610649"/>
            <a:ext cx="2435517" cy="100584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0B4F6805-96D8-4434-996B-46293774AF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1232" y="2808303"/>
            <a:ext cx="1580092" cy="1310261"/>
          </a:xfrm>
          <a:prstGeom prst="rect">
            <a:avLst/>
          </a:prstGeom>
        </p:spPr>
      </p:pic>
      <p:graphicFrame>
        <p:nvGraphicFramePr>
          <p:cNvPr id="53" name="Таблица 15">
            <a:extLst>
              <a:ext uri="{FF2B5EF4-FFF2-40B4-BE49-F238E27FC236}">
                <a16:creationId xmlns:a16="http://schemas.microsoft.com/office/drawing/2014/main" id="{5FFC6CC7-F53D-4AB7-BD48-6ADF5CF30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352759"/>
              </p:ext>
            </p:extLst>
          </p:nvPr>
        </p:nvGraphicFramePr>
        <p:xfrm>
          <a:off x="5442206" y="1412243"/>
          <a:ext cx="1756609" cy="1010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56609">
                  <a:extLst>
                    <a:ext uri="{9D8B030D-6E8A-4147-A177-3AD203B41FA5}">
                      <a16:colId xmlns:a16="http://schemas.microsoft.com/office/drawing/2014/main" val="664026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Векторное хранилище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067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Qdrant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54698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977CE9D0-C080-480A-8A20-4DA8CD37B6AF}"/>
              </a:ext>
            </a:extLst>
          </p:cNvPr>
          <p:cNvSpPr txBox="1"/>
          <p:nvPr/>
        </p:nvSpPr>
        <p:spPr>
          <a:xfrm>
            <a:off x="682328" y="6027201"/>
            <a:ext cx="4961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Добавить микро причину выбора ко всем</a:t>
            </a:r>
          </a:p>
        </p:txBody>
      </p:sp>
    </p:spTree>
    <p:extLst>
      <p:ext uri="{BB962C8B-B14F-4D97-AF65-F5344CB8AC3E}">
        <p14:creationId xmlns:p14="http://schemas.microsoft.com/office/powerpoint/2010/main" val="3864864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37149" y="148977"/>
            <a:ext cx="531739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ru-RU" sz="4000" dirty="0">
                <a:latin typeface="+mj-lt"/>
              </a:rPr>
              <a:t>Путь пользователя</a:t>
            </a:r>
            <a:endParaRPr sz="4000" dirty="0">
              <a:latin typeface="+mj-lt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840870" y="6054593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C1FF6DA9-008F-8B48-92A6-B652298478BF}" type="slidenum">
              <a:rPr lang="en-US" b="1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6</a:t>
            </a:fld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/2</a:t>
            </a: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C3AD01-DDE7-4249-956B-1968CA6EB3A1}"/>
              </a:ext>
            </a:extLst>
          </p:cNvPr>
          <p:cNvSpPr txBox="1"/>
          <p:nvPr/>
        </p:nvSpPr>
        <p:spPr>
          <a:xfrm>
            <a:off x="1524000" y="1794933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До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5C73DA-F681-456C-BDE8-1526FB478240}"/>
              </a:ext>
            </a:extLst>
          </p:cNvPr>
          <p:cNvSpPr txBox="1"/>
          <p:nvPr/>
        </p:nvSpPr>
        <p:spPr>
          <a:xfrm>
            <a:off x="8652933" y="1693333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После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3D0B0B5-94DD-44E7-892D-F1C0A03DD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78" y="2268013"/>
            <a:ext cx="5471139" cy="274555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84096E9-2B25-4122-95D2-BC3A385C9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39" y="2934402"/>
            <a:ext cx="5549787" cy="114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962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981" y="148977"/>
            <a:ext cx="88071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ru-RU" sz="4000" dirty="0">
                <a:latin typeface="+mj-lt"/>
              </a:rPr>
              <a:t>Основной функционал системы</a:t>
            </a:r>
            <a:endParaRPr sz="4000" dirty="0">
              <a:latin typeface="+mj-lt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840870" y="6054593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C1FF6DA9-008F-8B48-92A6-B652298478BF}" type="slidenum">
              <a:rPr lang="en-US" b="1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7</a:t>
            </a:fld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/2</a:t>
            </a: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49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981" y="148977"/>
            <a:ext cx="88071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ru-RU" sz="4000" dirty="0">
                <a:latin typeface="+mj-lt"/>
              </a:rPr>
              <a:t>Основной функционал системы</a:t>
            </a:r>
            <a:endParaRPr sz="4000" dirty="0">
              <a:latin typeface="+mj-lt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840870" y="6054593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C1FF6DA9-008F-8B48-92A6-B652298478BF}" type="slidenum">
              <a:rPr lang="en-US" b="1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8</a:t>
            </a:fld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/2</a:t>
            </a: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FF030-81F6-46FA-948F-C1DA59ACB02F}"/>
              </a:ext>
            </a:extLst>
          </p:cNvPr>
          <p:cNvSpPr txBox="1"/>
          <p:nvPr/>
        </p:nvSpPr>
        <p:spPr>
          <a:xfrm>
            <a:off x="4268073" y="2814149"/>
            <a:ext cx="1258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/>
              <a:t>Картинка</a:t>
            </a:r>
          </a:p>
        </p:txBody>
      </p:sp>
    </p:spTree>
    <p:extLst>
      <p:ext uri="{BB962C8B-B14F-4D97-AF65-F5344CB8AC3E}">
        <p14:creationId xmlns:p14="http://schemas.microsoft.com/office/powerpoint/2010/main" val="1270246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981" y="148977"/>
            <a:ext cx="88071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ru-RU" sz="4000" dirty="0">
                <a:latin typeface="+mj-lt"/>
              </a:rPr>
              <a:t>Основной функционал системы</a:t>
            </a:r>
            <a:endParaRPr sz="4000" dirty="0">
              <a:latin typeface="+mj-lt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840870" y="6054593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C1FF6DA9-008F-8B48-92A6-B652298478BF}" type="slidenum">
              <a:rPr lang="en-US" b="1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9</a:t>
            </a:fld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/2</a:t>
            </a: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FF030-81F6-46FA-948F-C1DA59ACB02F}"/>
              </a:ext>
            </a:extLst>
          </p:cNvPr>
          <p:cNvSpPr txBox="1"/>
          <p:nvPr/>
        </p:nvSpPr>
        <p:spPr>
          <a:xfrm>
            <a:off x="4268073" y="2814149"/>
            <a:ext cx="1258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/>
              <a:t>Картинка</a:t>
            </a:r>
          </a:p>
        </p:txBody>
      </p:sp>
    </p:spTree>
    <p:extLst>
      <p:ext uri="{BB962C8B-B14F-4D97-AF65-F5344CB8AC3E}">
        <p14:creationId xmlns:p14="http://schemas.microsoft.com/office/powerpoint/2010/main" val="1829870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981" y="148977"/>
            <a:ext cx="88071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ru-RU" sz="4000" dirty="0">
                <a:latin typeface="+mj-lt"/>
              </a:rPr>
              <a:t>Основной функционал системы</a:t>
            </a:r>
            <a:endParaRPr sz="4000" dirty="0">
              <a:latin typeface="+mj-lt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840870" y="6054593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C1FF6DA9-008F-8B48-92A6-B652298478BF}" type="slidenum">
              <a:rPr lang="en-US" b="1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10</a:t>
            </a:fld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/2</a:t>
            </a: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FF030-81F6-46FA-948F-C1DA59ACB02F}"/>
              </a:ext>
            </a:extLst>
          </p:cNvPr>
          <p:cNvSpPr txBox="1"/>
          <p:nvPr/>
        </p:nvSpPr>
        <p:spPr>
          <a:xfrm>
            <a:off x="4268073" y="2814149"/>
            <a:ext cx="1258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/>
              <a:t>Картинка</a:t>
            </a:r>
          </a:p>
        </p:txBody>
      </p:sp>
    </p:spTree>
    <p:extLst>
      <p:ext uri="{BB962C8B-B14F-4D97-AF65-F5344CB8AC3E}">
        <p14:creationId xmlns:p14="http://schemas.microsoft.com/office/powerpoint/2010/main" val="4169047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981" y="148977"/>
            <a:ext cx="88071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ru-RU" sz="4000" dirty="0">
                <a:latin typeface="+mj-lt"/>
              </a:rPr>
              <a:t>Основной функционал системы</a:t>
            </a:r>
            <a:endParaRPr sz="4000" dirty="0">
              <a:latin typeface="+mj-lt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840870" y="6054593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C1FF6DA9-008F-8B48-92A6-B652298478BF}" type="slidenum">
              <a:rPr lang="en-US" b="1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11</a:t>
            </a:fld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/2</a:t>
            </a: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FF030-81F6-46FA-948F-C1DA59ACB02F}"/>
              </a:ext>
            </a:extLst>
          </p:cNvPr>
          <p:cNvSpPr txBox="1"/>
          <p:nvPr/>
        </p:nvSpPr>
        <p:spPr>
          <a:xfrm>
            <a:off x="4268073" y="2814149"/>
            <a:ext cx="1258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/>
              <a:t>Картинка</a:t>
            </a:r>
          </a:p>
        </p:txBody>
      </p:sp>
    </p:spTree>
    <p:extLst>
      <p:ext uri="{BB962C8B-B14F-4D97-AF65-F5344CB8AC3E}">
        <p14:creationId xmlns:p14="http://schemas.microsoft.com/office/powerpoint/2010/main" val="4160481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981" y="148977"/>
            <a:ext cx="88071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ru-RU" sz="4000" dirty="0">
                <a:latin typeface="+mj-lt"/>
              </a:rPr>
              <a:t>Основной функционал системы</a:t>
            </a:r>
            <a:endParaRPr sz="4000" dirty="0">
              <a:latin typeface="+mj-lt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840870" y="6054593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C1FF6DA9-008F-8B48-92A6-B652298478BF}" type="slidenum">
              <a:rPr lang="en-US" b="1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12</a:t>
            </a:fld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/2</a:t>
            </a: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FF030-81F6-46FA-948F-C1DA59ACB02F}"/>
              </a:ext>
            </a:extLst>
          </p:cNvPr>
          <p:cNvSpPr txBox="1"/>
          <p:nvPr/>
        </p:nvSpPr>
        <p:spPr>
          <a:xfrm>
            <a:off x="4268073" y="2814149"/>
            <a:ext cx="1258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/>
              <a:t>Картинка</a:t>
            </a:r>
          </a:p>
        </p:txBody>
      </p:sp>
    </p:spTree>
    <p:extLst>
      <p:ext uri="{BB962C8B-B14F-4D97-AF65-F5344CB8AC3E}">
        <p14:creationId xmlns:p14="http://schemas.microsoft.com/office/powerpoint/2010/main" val="3698923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981" y="148977"/>
            <a:ext cx="88071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ru-RU" sz="4000" dirty="0">
                <a:latin typeface="+mj-lt"/>
              </a:rPr>
              <a:t>Основной функционал системы</a:t>
            </a:r>
            <a:endParaRPr sz="4000" dirty="0">
              <a:latin typeface="+mj-lt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840870" y="6054593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C1FF6DA9-008F-8B48-92A6-B652298478BF}" type="slidenum">
              <a:rPr lang="en-US" b="1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13</a:t>
            </a:fld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/2</a:t>
            </a: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FF030-81F6-46FA-948F-C1DA59ACB02F}"/>
              </a:ext>
            </a:extLst>
          </p:cNvPr>
          <p:cNvSpPr txBox="1"/>
          <p:nvPr/>
        </p:nvSpPr>
        <p:spPr>
          <a:xfrm>
            <a:off x="4268073" y="2814149"/>
            <a:ext cx="1258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/>
              <a:t>Картинка</a:t>
            </a:r>
          </a:p>
        </p:txBody>
      </p:sp>
    </p:spTree>
    <p:extLst>
      <p:ext uri="{BB962C8B-B14F-4D97-AF65-F5344CB8AC3E}">
        <p14:creationId xmlns:p14="http://schemas.microsoft.com/office/powerpoint/2010/main" val="617752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981" y="148977"/>
            <a:ext cx="62283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ru-RU" sz="4000" dirty="0">
                <a:latin typeface="+mj-lt"/>
              </a:rPr>
              <a:t>Архитектура системы</a:t>
            </a:r>
            <a:endParaRPr sz="4000" dirty="0">
              <a:latin typeface="+mj-lt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840870" y="6054593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C1FF6DA9-008F-8B48-92A6-B652298478BF}" type="slidenum">
              <a:rPr lang="en-US" b="1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14</a:t>
            </a:fld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/2</a:t>
            </a: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954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981" y="148977"/>
            <a:ext cx="88071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ru-RU" sz="4000" dirty="0">
                <a:latin typeface="+mj-lt"/>
              </a:rPr>
              <a:t>Интерфейс и взаимодействие</a:t>
            </a:r>
            <a:endParaRPr sz="4000" dirty="0">
              <a:latin typeface="+mj-lt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840870" y="6054593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C1FF6DA9-008F-8B48-92A6-B652298478BF}" type="slidenum">
              <a:rPr lang="en-US" b="1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15</a:t>
            </a:fld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/2</a:t>
            </a: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FF030-81F6-46FA-948F-C1DA59ACB02F}"/>
              </a:ext>
            </a:extLst>
          </p:cNvPr>
          <p:cNvSpPr txBox="1"/>
          <p:nvPr/>
        </p:nvSpPr>
        <p:spPr>
          <a:xfrm>
            <a:off x="4268073" y="2814149"/>
            <a:ext cx="1258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/>
              <a:t>Картинка</a:t>
            </a:r>
          </a:p>
        </p:txBody>
      </p:sp>
    </p:spTree>
    <p:extLst>
      <p:ext uri="{BB962C8B-B14F-4D97-AF65-F5344CB8AC3E}">
        <p14:creationId xmlns:p14="http://schemas.microsoft.com/office/powerpoint/2010/main" val="1429739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981" y="148977"/>
            <a:ext cx="88071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ru-RU" sz="4000" dirty="0">
                <a:latin typeface="+mj-lt"/>
              </a:rPr>
              <a:t>Интерфейс и взаимодействие</a:t>
            </a:r>
            <a:endParaRPr sz="4000" dirty="0">
              <a:latin typeface="+mj-lt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840870" y="6054593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C1FF6DA9-008F-8B48-92A6-B652298478BF}" type="slidenum">
              <a:rPr lang="en-US" b="1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16</a:t>
            </a:fld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/2</a:t>
            </a: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FF030-81F6-46FA-948F-C1DA59ACB02F}"/>
              </a:ext>
            </a:extLst>
          </p:cNvPr>
          <p:cNvSpPr txBox="1"/>
          <p:nvPr/>
        </p:nvSpPr>
        <p:spPr>
          <a:xfrm>
            <a:off x="4268073" y="2814149"/>
            <a:ext cx="1258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/>
              <a:t>Картинка</a:t>
            </a:r>
          </a:p>
        </p:txBody>
      </p:sp>
    </p:spTree>
    <p:extLst>
      <p:ext uri="{BB962C8B-B14F-4D97-AF65-F5344CB8AC3E}">
        <p14:creationId xmlns:p14="http://schemas.microsoft.com/office/powerpoint/2010/main" val="1323784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981" y="148977"/>
            <a:ext cx="88071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ru-RU" sz="4000" dirty="0">
                <a:latin typeface="+mj-lt"/>
              </a:rPr>
              <a:t>Интерфейс и взаимодействие</a:t>
            </a:r>
            <a:endParaRPr sz="4000" dirty="0">
              <a:latin typeface="+mj-lt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840870" y="6054593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C1FF6DA9-008F-8B48-92A6-B652298478BF}" type="slidenum">
              <a:rPr lang="en-US" b="1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17</a:t>
            </a:fld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/2</a:t>
            </a: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FF030-81F6-46FA-948F-C1DA59ACB02F}"/>
              </a:ext>
            </a:extLst>
          </p:cNvPr>
          <p:cNvSpPr txBox="1"/>
          <p:nvPr/>
        </p:nvSpPr>
        <p:spPr>
          <a:xfrm>
            <a:off x="4268073" y="2814149"/>
            <a:ext cx="1258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/>
              <a:t>Картинка</a:t>
            </a:r>
          </a:p>
        </p:txBody>
      </p:sp>
    </p:spTree>
    <p:extLst>
      <p:ext uri="{BB962C8B-B14F-4D97-AF65-F5344CB8AC3E}">
        <p14:creationId xmlns:p14="http://schemas.microsoft.com/office/powerpoint/2010/main" val="2610129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981" y="148977"/>
            <a:ext cx="88071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ru-RU" sz="4000" dirty="0">
                <a:latin typeface="+mj-lt"/>
              </a:rPr>
              <a:t>Интерфейс и взаимодействие</a:t>
            </a:r>
            <a:endParaRPr sz="4000" dirty="0">
              <a:latin typeface="+mj-lt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840870" y="6054593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C1FF6DA9-008F-8B48-92A6-B652298478BF}" type="slidenum">
              <a:rPr lang="en-US" b="1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18</a:t>
            </a:fld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/2</a:t>
            </a: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FF030-81F6-46FA-948F-C1DA59ACB02F}"/>
              </a:ext>
            </a:extLst>
          </p:cNvPr>
          <p:cNvSpPr txBox="1"/>
          <p:nvPr/>
        </p:nvSpPr>
        <p:spPr>
          <a:xfrm>
            <a:off x="4268073" y="2814149"/>
            <a:ext cx="1258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/>
              <a:t>Картинка</a:t>
            </a:r>
          </a:p>
        </p:txBody>
      </p:sp>
    </p:spTree>
    <p:extLst>
      <p:ext uri="{BB962C8B-B14F-4D97-AF65-F5344CB8AC3E}">
        <p14:creationId xmlns:p14="http://schemas.microsoft.com/office/powerpoint/2010/main" val="137830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81981" y="148977"/>
            <a:ext cx="88071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ru-RU" sz="4000" dirty="0">
                <a:latin typeface="+mj-lt"/>
              </a:rPr>
              <a:t>Интерфейс и взаимодействие</a:t>
            </a:r>
            <a:endParaRPr sz="4000" dirty="0">
              <a:latin typeface="+mj-lt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840870" y="6054593"/>
            <a:ext cx="686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C1FF6DA9-008F-8B48-92A6-B652298478BF}" type="slidenum">
              <a:rPr lang="en-US" b="1" smtClean="0">
                <a:latin typeface="Segoe UI" panose="020B0502040204020203" pitchFamily="34" charset="0"/>
                <a:cs typeface="Segoe UI" panose="020B0502040204020203" pitchFamily="34" charset="0"/>
              </a:rPr>
              <a:pPr/>
              <a:t>19</a:t>
            </a:fld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/2</a:t>
            </a:r>
            <a:r>
              <a:rPr lang="ru-RU" b="1" dirty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CFF030-81F6-46FA-948F-C1DA59ACB02F}"/>
              </a:ext>
            </a:extLst>
          </p:cNvPr>
          <p:cNvSpPr txBox="1"/>
          <p:nvPr/>
        </p:nvSpPr>
        <p:spPr>
          <a:xfrm>
            <a:off x="4268073" y="2814149"/>
            <a:ext cx="1258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/>
              <a:t>Картинка</a:t>
            </a:r>
          </a:p>
        </p:txBody>
      </p:sp>
    </p:spTree>
    <p:extLst>
      <p:ext uri="{BB962C8B-B14F-4D97-AF65-F5344CB8AC3E}">
        <p14:creationId xmlns:p14="http://schemas.microsoft.com/office/powerpoint/2010/main" val="1168555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435</Words>
  <Application>Microsoft Office PowerPoint</Application>
  <PresentationFormat>Широкоэкранный</PresentationFormat>
  <Paragraphs>108</Paragraphs>
  <Slides>19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6" baseType="lpstr">
      <vt:lpstr>Arial</vt:lpstr>
      <vt:lpstr>Calibri</vt:lpstr>
      <vt:lpstr>Noto Sans</vt:lpstr>
      <vt:lpstr>Segoe UI</vt:lpstr>
      <vt:lpstr>Segoe UI Black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АО «ММЗ»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системы подбора измерительных приборов</dc:title>
  <dc:subject>ВКР бакалавра по программной инженерии</dc:subject>
  <dc:creator>OpenAI</dc:creator>
  <cp:lastModifiedBy>Kirill</cp:lastModifiedBy>
  <cp:revision>17</cp:revision>
  <dcterms:created xsi:type="dcterms:W3CDTF">2026-06-10T17:35:13Z</dcterms:created>
  <dcterms:modified xsi:type="dcterms:W3CDTF">2026-06-10T19:35:18Z</dcterms:modified>
</cp:coreProperties>
</file>